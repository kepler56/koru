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eist"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6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524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93790" y="2484120"/>
            <a:ext cx="2942987" cy="426244"/>
          </a:xfrm>
          <a:prstGeom prst="roundRect">
            <a:avLst>
              <a:gd name="adj" fmla="val 38315"/>
            </a:avLst>
          </a:prstGeom>
          <a:solidFill>
            <a:srgbClr val="CCFFEF"/>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9878" y="2606516"/>
            <a:ext cx="181451" cy="181451"/>
          </a:xfrm>
          <a:prstGeom prst="rect">
            <a:avLst/>
          </a:prstGeom>
        </p:spPr>
      </p:pic>
      <p:sp>
        <p:nvSpPr>
          <p:cNvPr id="4" name="Text 1"/>
          <p:cNvSpPr/>
          <p:nvPr/>
        </p:nvSpPr>
        <p:spPr>
          <a:xfrm>
            <a:off x="1202055" y="2552105"/>
            <a:ext cx="2398633" cy="290274"/>
          </a:xfrm>
          <a:prstGeom prst="rect">
            <a:avLst/>
          </a:prstGeom>
          <a:noFill/>
          <a:ln/>
        </p:spPr>
        <p:txBody>
          <a:bodyPr wrap="none" lIns="0" tIns="0" rIns="0" bIns="0" rtlCol="0" anchor="t"/>
          <a:lstStyle/>
          <a:p>
            <a:pPr marL="0" indent="0" algn="l">
              <a:lnSpc>
                <a:spcPts val="2250"/>
              </a:lnSpc>
              <a:buNone/>
            </a:pPr>
            <a:r>
              <a:rPr lang="en-US" sz="1400" dirty="0">
                <a:solidFill>
                  <a:srgbClr val="4B4A4A"/>
                </a:solidFill>
                <a:latin typeface="Geist" pitchFamily="34" charset="0"/>
                <a:ea typeface="Geist" pitchFamily="34" charset="-122"/>
                <a:cs typeface="Geist" pitchFamily="34" charset="-120"/>
              </a:rPr>
              <a:t>AI-POWERED RECRUITMENT</a:t>
            </a:r>
            <a:endParaRPr lang="en-US" sz="1400" dirty="0"/>
          </a:p>
        </p:txBody>
      </p:sp>
      <p:sp>
        <p:nvSpPr>
          <p:cNvPr id="5" name="Text 2"/>
          <p:cNvSpPr/>
          <p:nvPr/>
        </p:nvSpPr>
        <p:spPr>
          <a:xfrm>
            <a:off x="7599521" y="2433042"/>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3"/>
          <p:cNvSpPr/>
          <p:nvPr/>
        </p:nvSpPr>
        <p:spPr>
          <a:xfrm>
            <a:off x="793790" y="3647480"/>
            <a:ext cx="6244709" cy="1417558"/>
          </a:xfrm>
          <a:prstGeom prst="rect">
            <a:avLst/>
          </a:prstGeom>
          <a:noFill/>
          <a:ln/>
        </p:spPr>
        <p:txBody>
          <a:bodyPr wrap="squar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Smart Resume &amp; Job Matcher </a:t>
            </a:r>
            <a:endParaRPr lang="en-US" sz="4450" dirty="0"/>
          </a:p>
        </p:txBody>
      </p:sp>
      <p:pic>
        <p:nvPicPr>
          <p:cNvPr id="7" name="Image 1" descr="preencoded.png"/>
          <p:cNvPicPr>
            <a:picLocks noChangeAspect="1"/>
          </p:cNvPicPr>
          <p:nvPr/>
        </p:nvPicPr>
        <p:blipFill>
          <a:blip r:embed="rId5"/>
          <a:stretch>
            <a:fillRect/>
          </a:stretch>
        </p:blipFill>
        <p:spPr>
          <a:xfrm>
            <a:off x="7599521" y="3675817"/>
            <a:ext cx="2268260" cy="1236226"/>
          </a:xfrm>
          <a:prstGeom prst="rect">
            <a:avLst/>
          </a:prstGeom>
        </p:spPr>
      </p:pic>
      <p:sp>
        <p:nvSpPr>
          <p:cNvPr id="8" name="Text 4"/>
          <p:cNvSpPr/>
          <p:nvPr/>
        </p:nvSpPr>
        <p:spPr>
          <a:xfrm>
            <a:off x="793790" y="5547003"/>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4B4A4A"/>
                </a:solidFill>
                <a:latin typeface="Geist" pitchFamily="34" charset="0"/>
                <a:ea typeface="Geist" pitchFamily="34" charset="-122"/>
                <a:cs typeface="Geist" pitchFamily="34" charset="-120"/>
              </a:rPr>
              <a:t>Leveraging Embeddings, Semantic Search, and Generative AI for Intelligent Recruitment</a:t>
            </a:r>
            <a:endParaRPr lang="en-US" sz="2200" dirty="0"/>
          </a:p>
        </p:txBody>
      </p:sp>
      <p:sp>
        <p:nvSpPr>
          <p:cNvPr id="9" name="Rectangle 8">
            <a:extLst>
              <a:ext uri="{FF2B5EF4-FFF2-40B4-BE49-F238E27FC236}">
                <a16:creationId xmlns:a16="http://schemas.microsoft.com/office/drawing/2014/main" id="{58387A56-6269-493E-2D4B-AF992098F6A0}"/>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66474"/>
            <a:ext cx="7932658"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The Recruitment Challenge</a:t>
            </a:r>
            <a:endParaRPr lang="en-US" sz="4450" dirty="0"/>
          </a:p>
        </p:txBody>
      </p:sp>
      <p:sp>
        <p:nvSpPr>
          <p:cNvPr id="3" name="Text 1"/>
          <p:cNvSpPr/>
          <p:nvPr/>
        </p:nvSpPr>
        <p:spPr>
          <a:xfrm>
            <a:off x="793790" y="3542228"/>
            <a:ext cx="5507593" cy="425291"/>
          </a:xfrm>
          <a:prstGeom prst="rect">
            <a:avLst/>
          </a:prstGeom>
          <a:noFill/>
          <a:ln/>
        </p:spPr>
        <p:txBody>
          <a:bodyPr wrap="none" lIns="0" tIns="0" rIns="0" bIns="0" rtlCol="0" anchor="t"/>
          <a:lstStyle/>
          <a:p>
            <a:pPr marL="0" indent="0" algn="l">
              <a:lnSpc>
                <a:spcPts val="3300"/>
              </a:lnSpc>
              <a:buNone/>
            </a:pPr>
            <a:r>
              <a:rPr lang="en-US" sz="2650" b="1" dirty="0">
                <a:solidFill>
                  <a:srgbClr val="006747"/>
                </a:solidFill>
                <a:latin typeface="Noto Serif SC Bold" pitchFamily="34" charset="0"/>
                <a:ea typeface="Noto Serif SC Bold" pitchFamily="34" charset="-122"/>
                <a:cs typeface="Noto Serif SC Bold" pitchFamily="34" charset="-120"/>
              </a:rPr>
              <a:t>Traditional Screening Problems</a:t>
            </a:r>
            <a:endParaRPr lang="en-US" sz="2650" dirty="0"/>
          </a:p>
        </p:txBody>
      </p:sp>
      <p:sp>
        <p:nvSpPr>
          <p:cNvPr id="4" name="Text 2"/>
          <p:cNvSpPr/>
          <p:nvPr/>
        </p:nvSpPr>
        <p:spPr>
          <a:xfrm>
            <a:off x="793790" y="419433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Time-consuming manual resume review</a:t>
            </a:r>
            <a:endParaRPr lang="en-US" sz="1750" dirty="0"/>
          </a:p>
        </p:txBody>
      </p:sp>
      <p:sp>
        <p:nvSpPr>
          <p:cNvPr id="5" name="Text 3"/>
          <p:cNvSpPr/>
          <p:nvPr/>
        </p:nvSpPr>
        <p:spPr>
          <a:xfrm>
            <a:off x="793790" y="463653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Subjective evaluation processes</a:t>
            </a:r>
            <a:endParaRPr lang="en-US" sz="1750" dirty="0"/>
          </a:p>
        </p:txBody>
      </p:sp>
      <p:sp>
        <p:nvSpPr>
          <p:cNvPr id="6" name="Text 4"/>
          <p:cNvSpPr/>
          <p:nvPr/>
        </p:nvSpPr>
        <p:spPr>
          <a:xfrm>
            <a:off x="793790" y="507873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Keyword-focused approaches miss qualified candidates</a:t>
            </a:r>
            <a:endParaRPr lang="en-US" sz="1750" dirty="0"/>
          </a:p>
        </p:txBody>
      </p:sp>
      <p:sp>
        <p:nvSpPr>
          <p:cNvPr id="7" name="Text 5"/>
          <p:cNvSpPr/>
          <p:nvPr/>
        </p:nvSpPr>
        <p:spPr>
          <a:xfrm>
            <a:off x="7599521" y="3542228"/>
            <a:ext cx="4094917" cy="425291"/>
          </a:xfrm>
          <a:prstGeom prst="rect">
            <a:avLst/>
          </a:prstGeom>
          <a:noFill/>
          <a:ln/>
        </p:spPr>
        <p:txBody>
          <a:bodyPr wrap="none" lIns="0" tIns="0" rIns="0" bIns="0" rtlCol="0" anchor="t"/>
          <a:lstStyle/>
          <a:p>
            <a:pPr marL="0" indent="0" algn="l">
              <a:lnSpc>
                <a:spcPts val="3300"/>
              </a:lnSpc>
              <a:buNone/>
            </a:pPr>
            <a:r>
              <a:rPr lang="en-US" sz="2650" b="1" dirty="0">
                <a:solidFill>
                  <a:srgbClr val="006747"/>
                </a:solidFill>
                <a:latin typeface="Noto Serif SC Bold" pitchFamily="34" charset="0"/>
                <a:ea typeface="Noto Serif SC Bold" pitchFamily="34" charset="-122"/>
                <a:cs typeface="Noto Serif SC Bold" pitchFamily="34" charset="-120"/>
              </a:rPr>
              <a:t>Our Solution Objectives</a:t>
            </a:r>
            <a:endParaRPr lang="en-US" sz="2650" dirty="0"/>
          </a:p>
        </p:txBody>
      </p:sp>
      <p:sp>
        <p:nvSpPr>
          <p:cNvPr id="8" name="Text 6"/>
          <p:cNvSpPr/>
          <p:nvPr/>
        </p:nvSpPr>
        <p:spPr>
          <a:xfrm>
            <a:off x="7599521" y="4194334"/>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4B4A4A"/>
                </a:solidFill>
                <a:latin typeface="Geist" pitchFamily="34" charset="0"/>
                <a:ea typeface="Geist" pitchFamily="34" charset="-122"/>
                <a:cs typeface="Geist" pitchFamily="34" charset="-120"/>
              </a:rPr>
              <a:t>Automate resume-job matching with AI</a:t>
            </a:r>
            <a:endParaRPr lang="en-US" sz="1750" dirty="0"/>
          </a:p>
        </p:txBody>
      </p:sp>
      <p:sp>
        <p:nvSpPr>
          <p:cNvPr id="9" name="Text 7"/>
          <p:cNvSpPr/>
          <p:nvPr/>
        </p:nvSpPr>
        <p:spPr>
          <a:xfrm>
            <a:off x="7599521" y="4636532"/>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4B4A4A"/>
                </a:solidFill>
                <a:latin typeface="Geist" pitchFamily="34" charset="0"/>
                <a:ea typeface="Geist" pitchFamily="34" charset="-122"/>
                <a:cs typeface="Geist" pitchFamily="34" charset="-120"/>
              </a:rPr>
              <a:t>Multi-dimensional candidate scoring</a:t>
            </a:r>
            <a:endParaRPr lang="en-US" sz="1750" dirty="0"/>
          </a:p>
        </p:txBody>
      </p:sp>
      <p:sp>
        <p:nvSpPr>
          <p:cNvPr id="10" name="Text 8"/>
          <p:cNvSpPr/>
          <p:nvPr/>
        </p:nvSpPr>
        <p:spPr>
          <a:xfrm>
            <a:off x="7599521" y="5078730"/>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4B4A4A"/>
                </a:solidFill>
                <a:latin typeface="Geist" pitchFamily="34" charset="0"/>
                <a:ea typeface="Geist" pitchFamily="34" charset="-122"/>
                <a:cs typeface="Geist" pitchFamily="34" charset="-120"/>
              </a:rPr>
              <a:t>Extract 20+ fields from resumes</a:t>
            </a:r>
            <a:endParaRPr lang="en-US" sz="1750" dirty="0"/>
          </a:p>
        </p:txBody>
      </p:sp>
      <p:sp>
        <p:nvSpPr>
          <p:cNvPr id="11" name="Text 9"/>
          <p:cNvSpPr/>
          <p:nvPr/>
        </p:nvSpPr>
        <p:spPr>
          <a:xfrm>
            <a:off x="7599521" y="5520928"/>
            <a:ext cx="6244709"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dirty="0">
                <a:solidFill>
                  <a:srgbClr val="4B4A4A"/>
                </a:solidFill>
                <a:latin typeface="Geist" pitchFamily="34" charset="0"/>
                <a:ea typeface="Geist" pitchFamily="34" charset="-122"/>
                <a:cs typeface="Geist" pitchFamily="34" charset="-120"/>
              </a:rPr>
              <a:t>Generate AI-powered explanations</a:t>
            </a:r>
            <a:endParaRPr lang="en-US" sz="1750" dirty="0"/>
          </a:p>
        </p:txBody>
      </p:sp>
      <p:sp>
        <p:nvSpPr>
          <p:cNvPr id="12" name="Rectangle 11">
            <a:extLst>
              <a:ext uri="{FF2B5EF4-FFF2-40B4-BE49-F238E27FC236}">
                <a16:creationId xmlns:a16="http://schemas.microsoft.com/office/drawing/2014/main" id="{DAAFDC97-573C-2BEA-6CAD-97517CF5154D}"/>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2361" y="623292"/>
            <a:ext cx="6520101" cy="530543"/>
          </a:xfrm>
          <a:prstGeom prst="rect">
            <a:avLst/>
          </a:prstGeom>
          <a:noFill/>
          <a:ln/>
        </p:spPr>
        <p:txBody>
          <a:bodyPr wrap="none" lIns="0" tIns="0" rIns="0" bIns="0" rtlCol="0" anchor="t"/>
          <a:lstStyle/>
          <a:p>
            <a:pPr marL="0" indent="0" algn="l">
              <a:lnSpc>
                <a:spcPts val="4150"/>
              </a:lnSpc>
              <a:buNone/>
            </a:pPr>
            <a:r>
              <a:rPr lang="en-US" sz="3300" b="1" dirty="0">
                <a:solidFill>
                  <a:srgbClr val="006747"/>
                </a:solidFill>
                <a:latin typeface="Noto Serif SC Bold" pitchFamily="34" charset="0"/>
                <a:ea typeface="Noto Serif SC Bold" pitchFamily="34" charset="-122"/>
                <a:cs typeface="Noto Serif SC Bold" pitchFamily="34" charset="-120"/>
              </a:rPr>
              <a:t>System Architecture Overview</a:t>
            </a:r>
            <a:endParaRPr lang="en-US" sz="3300" dirty="0"/>
          </a:p>
        </p:txBody>
      </p:sp>
      <p:pic>
        <p:nvPicPr>
          <p:cNvPr id="3" name="Image 0" descr="preencoded.png"/>
          <p:cNvPicPr>
            <a:picLocks noChangeAspect="1"/>
          </p:cNvPicPr>
          <p:nvPr/>
        </p:nvPicPr>
        <p:blipFill>
          <a:blip r:embed="rId3"/>
          <a:stretch>
            <a:fillRect/>
          </a:stretch>
        </p:blipFill>
        <p:spPr>
          <a:xfrm>
            <a:off x="792361" y="1493401"/>
            <a:ext cx="848916" cy="1018818"/>
          </a:xfrm>
          <a:prstGeom prst="rect">
            <a:avLst/>
          </a:prstGeom>
        </p:spPr>
      </p:pic>
      <p:sp>
        <p:nvSpPr>
          <p:cNvPr id="4" name="Text 1"/>
          <p:cNvSpPr/>
          <p:nvPr/>
        </p:nvSpPr>
        <p:spPr>
          <a:xfrm>
            <a:off x="1811060" y="1663184"/>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Input Layer</a:t>
            </a:r>
            <a:endParaRPr lang="en-US" sz="1650" dirty="0"/>
          </a:p>
        </p:txBody>
      </p:sp>
      <p:sp>
        <p:nvSpPr>
          <p:cNvPr id="5" name="Text 2"/>
          <p:cNvSpPr/>
          <p:nvPr/>
        </p:nvSpPr>
        <p:spPr>
          <a:xfrm>
            <a:off x="1811060" y="2030254"/>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Resume files (PDF/DOCX/TXT) and job descriptions</a:t>
            </a:r>
            <a:endParaRPr lang="en-US" sz="1300" dirty="0"/>
          </a:p>
        </p:txBody>
      </p:sp>
      <p:pic>
        <p:nvPicPr>
          <p:cNvPr id="6" name="Image 1" descr="preencoded.png"/>
          <p:cNvPicPr>
            <a:picLocks noChangeAspect="1"/>
          </p:cNvPicPr>
          <p:nvPr/>
        </p:nvPicPr>
        <p:blipFill>
          <a:blip r:embed="rId4"/>
          <a:stretch>
            <a:fillRect/>
          </a:stretch>
        </p:blipFill>
        <p:spPr>
          <a:xfrm>
            <a:off x="792361" y="2512219"/>
            <a:ext cx="848916" cy="1018818"/>
          </a:xfrm>
          <a:prstGeom prst="rect">
            <a:avLst/>
          </a:prstGeom>
        </p:spPr>
      </p:pic>
      <p:sp>
        <p:nvSpPr>
          <p:cNvPr id="7" name="Text 3"/>
          <p:cNvSpPr/>
          <p:nvPr/>
        </p:nvSpPr>
        <p:spPr>
          <a:xfrm>
            <a:off x="1811060" y="2682002"/>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Parsing Layer</a:t>
            </a:r>
            <a:endParaRPr lang="en-US" sz="1650" dirty="0"/>
          </a:p>
        </p:txBody>
      </p:sp>
      <p:sp>
        <p:nvSpPr>
          <p:cNvPr id="8" name="Text 4"/>
          <p:cNvSpPr/>
          <p:nvPr/>
        </p:nvSpPr>
        <p:spPr>
          <a:xfrm>
            <a:off x="1811060" y="3049072"/>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Extract skills, experience, projects, certifications, education</a:t>
            </a:r>
            <a:endParaRPr lang="en-US" sz="1300" dirty="0"/>
          </a:p>
        </p:txBody>
      </p:sp>
      <p:pic>
        <p:nvPicPr>
          <p:cNvPr id="9" name="Image 2" descr="preencoded.png"/>
          <p:cNvPicPr>
            <a:picLocks noChangeAspect="1"/>
          </p:cNvPicPr>
          <p:nvPr/>
        </p:nvPicPr>
        <p:blipFill>
          <a:blip r:embed="rId5"/>
          <a:stretch>
            <a:fillRect/>
          </a:stretch>
        </p:blipFill>
        <p:spPr>
          <a:xfrm>
            <a:off x="792361" y="3531037"/>
            <a:ext cx="848916" cy="1018818"/>
          </a:xfrm>
          <a:prstGeom prst="rect">
            <a:avLst/>
          </a:prstGeom>
        </p:spPr>
      </p:pic>
      <p:sp>
        <p:nvSpPr>
          <p:cNvPr id="10" name="Text 5"/>
          <p:cNvSpPr/>
          <p:nvPr/>
        </p:nvSpPr>
        <p:spPr>
          <a:xfrm>
            <a:off x="1811060" y="3700820"/>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Embedding Layer</a:t>
            </a:r>
            <a:endParaRPr lang="en-US" sz="1650" dirty="0"/>
          </a:p>
        </p:txBody>
      </p:sp>
      <p:sp>
        <p:nvSpPr>
          <p:cNvPr id="11" name="Text 6"/>
          <p:cNvSpPr/>
          <p:nvPr/>
        </p:nvSpPr>
        <p:spPr>
          <a:xfrm>
            <a:off x="1811060" y="4067889"/>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Multi-provider embedding service (SentenceTransformers, Ollama, Vertex AI)</a:t>
            </a:r>
            <a:endParaRPr lang="en-US" sz="1300" dirty="0"/>
          </a:p>
        </p:txBody>
      </p:sp>
      <p:pic>
        <p:nvPicPr>
          <p:cNvPr id="12" name="Image 3" descr="preencoded.png"/>
          <p:cNvPicPr>
            <a:picLocks noChangeAspect="1"/>
          </p:cNvPicPr>
          <p:nvPr/>
        </p:nvPicPr>
        <p:blipFill>
          <a:blip r:embed="rId6"/>
          <a:stretch>
            <a:fillRect/>
          </a:stretch>
        </p:blipFill>
        <p:spPr>
          <a:xfrm>
            <a:off x="792361" y="4549854"/>
            <a:ext cx="848916" cy="1018818"/>
          </a:xfrm>
          <a:prstGeom prst="rect">
            <a:avLst/>
          </a:prstGeom>
        </p:spPr>
      </p:pic>
      <p:sp>
        <p:nvSpPr>
          <p:cNvPr id="13" name="Text 7"/>
          <p:cNvSpPr/>
          <p:nvPr/>
        </p:nvSpPr>
        <p:spPr>
          <a:xfrm>
            <a:off x="1811060" y="4719638"/>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Matching Layer</a:t>
            </a:r>
            <a:endParaRPr lang="en-US" sz="1650" dirty="0"/>
          </a:p>
        </p:txBody>
      </p:sp>
      <p:sp>
        <p:nvSpPr>
          <p:cNvPr id="14" name="Text 8"/>
          <p:cNvSpPr/>
          <p:nvPr/>
        </p:nvSpPr>
        <p:spPr>
          <a:xfrm>
            <a:off x="1811060" y="5086707"/>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Semantic + component-based scoring</a:t>
            </a:r>
            <a:endParaRPr lang="en-US" sz="1300" dirty="0"/>
          </a:p>
        </p:txBody>
      </p:sp>
      <p:pic>
        <p:nvPicPr>
          <p:cNvPr id="15" name="Image 4" descr="preencoded.png"/>
          <p:cNvPicPr>
            <a:picLocks noChangeAspect="1"/>
          </p:cNvPicPr>
          <p:nvPr/>
        </p:nvPicPr>
        <p:blipFill>
          <a:blip r:embed="rId7"/>
          <a:stretch>
            <a:fillRect/>
          </a:stretch>
        </p:blipFill>
        <p:spPr>
          <a:xfrm>
            <a:off x="792361" y="5568672"/>
            <a:ext cx="848916" cy="1018818"/>
          </a:xfrm>
          <a:prstGeom prst="rect">
            <a:avLst/>
          </a:prstGeom>
        </p:spPr>
      </p:pic>
      <p:sp>
        <p:nvSpPr>
          <p:cNvPr id="16" name="Text 9"/>
          <p:cNvSpPr/>
          <p:nvPr/>
        </p:nvSpPr>
        <p:spPr>
          <a:xfrm>
            <a:off x="1811060" y="5738455"/>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Explanation Layer</a:t>
            </a:r>
            <a:endParaRPr lang="en-US" sz="1650" dirty="0"/>
          </a:p>
        </p:txBody>
      </p:sp>
      <p:sp>
        <p:nvSpPr>
          <p:cNvPr id="17" name="Text 10"/>
          <p:cNvSpPr/>
          <p:nvPr/>
        </p:nvSpPr>
        <p:spPr>
          <a:xfrm>
            <a:off x="1811060" y="6105525"/>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LangChain-powered AI reasoning</a:t>
            </a:r>
            <a:endParaRPr lang="en-US" sz="1300" dirty="0"/>
          </a:p>
        </p:txBody>
      </p:sp>
      <p:pic>
        <p:nvPicPr>
          <p:cNvPr id="18" name="Image 5" descr="preencoded.png"/>
          <p:cNvPicPr>
            <a:picLocks noChangeAspect="1"/>
          </p:cNvPicPr>
          <p:nvPr/>
        </p:nvPicPr>
        <p:blipFill>
          <a:blip r:embed="rId8"/>
          <a:stretch>
            <a:fillRect/>
          </a:stretch>
        </p:blipFill>
        <p:spPr>
          <a:xfrm>
            <a:off x="792361" y="6587490"/>
            <a:ext cx="848916" cy="1018818"/>
          </a:xfrm>
          <a:prstGeom prst="rect">
            <a:avLst/>
          </a:prstGeom>
        </p:spPr>
      </p:pic>
      <p:sp>
        <p:nvSpPr>
          <p:cNvPr id="19" name="Text 11"/>
          <p:cNvSpPr/>
          <p:nvPr/>
        </p:nvSpPr>
        <p:spPr>
          <a:xfrm>
            <a:off x="1811060" y="6757273"/>
            <a:ext cx="2122527" cy="265271"/>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Presentation Layer</a:t>
            </a:r>
            <a:endParaRPr lang="en-US" sz="1650" dirty="0"/>
          </a:p>
        </p:txBody>
      </p:sp>
      <p:sp>
        <p:nvSpPr>
          <p:cNvPr id="20" name="Text 12"/>
          <p:cNvSpPr/>
          <p:nvPr/>
        </p:nvSpPr>
        <p:spPr>
          <a:xfrm>
            <a:off x="1811060" y="7124343"/>
            <a:ext cx="12026979" cy="271582"/>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Streamlit UI and Jupyter notebooks</a:t>
            </a:r>
            <a:endParaRPr lang="en-US" sz="1300" dirty="0"/>
          </a:p>
        </p:txBody>
      </p:sp>
      <p:sp>
        <p:nvSpPr>
          <p:cNvPr id="21" name="Rectangle 20">
            <a:extLst>
              <a:ext uri="{FF2B5EF4-FFF2-40B4-BE49-F238E27FC236}">
                <a16:creationId xmlns:a16="http://schemas.microsoft.com/office/drawing/2014/main" id="{480AFF15-D23D-06C3-EB6E-74A6789FB451}"/>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45375"/>
            <a:ext cx="9102804"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Deep Document Understanding</a:t>
            </a:r>
            <a:endParaRPr lang="en-US" sz="4450" dirty="0"/>
          </a:p>
        </p:txBody>
      </p:sp>
      <p:sp>
        <p:nvSpPr>
          <p:cNvPr id="3" name="Text 1"/>
          <p:cNvSpPr/>
          <p:nvPr/>
        </p:nvSpPr>
        <p:spPr>
          <a:xfrm>
            <a:off x="793790" y="3321129"/>
            <a:ext cx="4093845" cy="425291"/>
          </a:xfrm>
          <a:prstGeom prst="rect">
            <a:avLst/>
          </a:prstGeom>
          <a:noFill/>
          <a:ln/>
        </p:spPr>
        <p:txBody>
          <a:bodyPr wrap="none" lIns="0" tIns="0" rIns="0" bIns="0" rtlCol="0" anchor="t"/>
          <a:lstStyle/>
          <a:p>
            <a:pPr marL="0" indent="0" algn="l">
              <a:lnSpc>
                <a:spcPts val="3300"/>
              </a:lnSpc>
              <a:buNone/>
            </a:pPr>
            <a:r>
              <a:rPr lang="en-US" sz="2650" b="1" dirty="0">
                <a:solidFill>
                  <a:srgbClr val="006747"/>
                </a:solidFill>
                <a:latin typeface="Noto Serif SC Bold" pitchFamily="34" charset="0"/>
                <a:ea typeface="Noto Serif SC Bold" pitchFamily="34" charset="-122"/>
                <a:cs typeface="Noto Serif SC Bold" pitchFamily="34" charset="-120"/>
              </a:rPr>
              <a:t>Resume Parser Extracts</a:t>
            </a:r>
            <a:endParaRPr lang="en-US" sz="2650" dirty="0"/>
          </a:p>
        </p:txBody>
      </p:sp>
      <p:sp>
        <p:nvSpPr>
          <p:cNvPr id="4" name="Text 2"/>
          <p:cNvSpPr/>
          <p:nvPr/>
        </p:nvSpPr>
        <p:spPr>
          <a:xfrm>
            <a:off x="793790" y="397323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Personal information (name, contact, location)</a:t>
            </a:r>
            <a:endParaRPr lang="en-US" sz="1750" dirty="0"/>
          </a:p>
        </p:txBody>
      </p:sp>
      <p:sp>
        <p:nvSpPr>
          <p:cNvPr id="5" name="Text 3"/>
          <p:cNvSpPr/>
          <p:nvPr/>
        </p:nvSpPr>
        <p:spPr>
          <a:xfrm>
            <a:off x="793790" y="441543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Technical and soft skills</a:t>
            </a:r>
            <a:endParaRPr lang="en-US" sz="1750" dirty="0"/>
          </a:p>
        </p:txBody>
      </p:sp>
      <p:sp>
        <p:nvSpPr>
          <p:cNvPr id="6" name="Text 4"/>
          <p:cNvSpPr/>
          <p:nvPr/>
        </p:nvSpPr>
        <p:spPr>
          <a:xfrm>
            <a:off x="793790" y="485763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Detailed work experience history</a:t>
            </a:r>
            <a:endParaRPr lang="en-US" sz="1750" dirty="0"/>
          </a:p>
        </p:txBody>
      </p:sp>
      <p:sp>
        <p:nvSpPr>
          <p:cNvPr id="7" name="Text 5"/>
          <p:cNvSpPr/>
          <p:nvPr/>
        </p:nvSpPr>
        <p:spPr>
          <a:xfrm>
            <a:off x="793790" y="529982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Education and certifications</a:t>
            </a:r>
            <a:endParaRPr lang="en-US" sz="1750" dirty="0"/>
          </a:p>
        </p:txBody>
      </p:sp>
      <p:sp>
        <p:nvSpPr>
          <p:cNvPr id="8" name="Text 6"/>
          <p:cNvSpPr/>
          <p:nvPr/>
        </p:nvSpPr>
        <p:spPr>
          <a:xfrm>
            <a:off x="793790" y="574202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Projects and publications</a:t>
            </a:r>
            <a:endParaRPr lang="en-US" sz="1750" dirty="0"/>
          </a:p>
        </p:txBody>
      </p:sp>
      <p:sp>
        <p:nvSpPr>
          <p:cNvPr id="9" name="Text 7"/>
          <p:cNvSpPr/>
          <p:nvPr/>
        </p:nvSpPr>
        <p:spPr>
          <a:xfrm>
            <a:off x="7599521" y="3321129"/>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6747"/>
                </a:solidFill>
                <a:latin typeface="Noto Serif SC Bold" pitchFamily="34" charset="0"/>
                <a:ea typeface="Noto Serif SC Bold" pitchFamily="34" charset="-122"/>
                <a:cs typeface="Noto Serif SC Bold" pitchFamily="34" charset="-120"/>
              </a:rPr>
              <a:t>Job Parser Extracts</a:t>
            </a:r>
            <a:endParaRPr lang="en-US" sz="2650" dirty="0"/>
          </a:p>
        </p:txBody>
      </p:sp>
      <p:sp>
        <p:nvSpPr>
          <p:cNvPr id="10" name="Text 8"/>
          <p:cNvSpPr/>
          <p:nvPr/>
        </p:nvSpPr>
        <p:spPr>
          <a:xfrm>
            <a:off x="7599521" y="397323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Job title, company, responsibilities</a:t>
            </a:r>
            <a:endParaRPr lang="en-US" sz="1750" dirty="0"/>
          </a:p>
        </p:txBody>
      </p:sp>
      <p:sp>
        <p:nvSpPr>
          <p:cNvPr id="11" name="Text 9"/>
          <p:cNvSpPr/>
          <p:nvPr/>
        </p:nvSpPr>
        <p:spPr>
          <a:xfrm>
            <a:off x="7599521" y="441543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Required and preferred skills</a:t>
            </a:r>
            <a:endParaRPr lang="en-US" sz="1750" dirty="0"/>
          </a:p>
        </p:txBody>
      </p:sp>
      <p:sp>
        <p:nvSpPr>
          <p:cNvPr id="12" name="Text 10"/>
          <p:cNvSpPr/>
          <p:nvPr/>
        </p:nvSpPr>
        <p:spPr>
          <a:xfrm>
            <a:off x="7599521" y="485763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Experience requirements</a:t>
            </a:r>
            <a:endParaRPr lang="en-US" sz="1750" dirty="0"/>
          </a:p>
        </p:txBody>
      </p:sp>
      <p:sp>
        <p:nvSpPr>
          <p:cNvPr id="13" name="Text 11"/>
          <p:cNvSpPr/>
          <p:nvPr/>
        </p:nvSpPr>
        <p:spPr>
          <a:xfrm>
            <a:off x="7599521" y="529982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B4A4A"/>
                </a:solidFill>
                <a:latin typeface="Geist" pitchFamily="34" charset="0"/>
                <a:ea typeface="Geist" pitchFamily="34" charset="-122"/>
                <a:cs typeface="Geist" pitchFamily="34" charset="-120"/>
              </a:rPr>
              <a:t>Education qualifications</a:t>
            </a:r>
            <a:endParaRPr lang="en-US" sz="1750" dirty="0"/>
          </a:p>
        </p:txBody>
      </p:sp>
      <p:sp>
        <p:nvSpPr>
          <p:cNvPr id="14" name="Rectangle 13">
            <a:extLst>
              <a:ext uri="{FF2B5EF4-FFF2-40B4-BE49-F238E27FC236}">
                <a16:creationId xmlns:a16="http://schemas.microsoft.com/office/drawing/2014/main" id="{702BE4C1-A091-7EFE-B5A7-D57D855E7733}"/>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25617"/>
            <a:ext cx="11124128"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Multi-Component Matching Algorithm</a:t>
            </a:r>
            <a:endParaRPr lang="en-US" sz="4450" dirty="0"/>
          </a:p>
        </p:txBody>
      </p:sp>
      <p:sp>
        <p:nvSpPr>
          <p:cNvPr id="3" name="Shape 1"/>
          <p:cNvSpPr/>
          <p:nvPr/>
        </p:nvSpPr>
        <p:spPr>
          <a:xfrm>
            <a:off x="793790" y="2288024"/>
            <a:ext cx="4196358" cy="2047994"/>
          </a:xfrm>
          <a:prstGeom prst="roundRect">
            <a:avLst>
              <a:gd name="adj" fmla="val 9968"/>
            </a:avLst>
          </a:prstGeom>
          <a:solidFill>
            <a:srgbClr val="006747"/>
          </a:solidFill>
          <a:ln w="7620">
            <a:solidFill>
              <a:srgbClr val="198060"/>
            </a:solidFill>
            <a:prstDash val="solid"/>
          </a:ln>
        </p:spPr>
      </p:sp>
      <p:sp>
        <p:nvSpPr>
          <p:cNvPr id="4" name="Text 2"/>
          <p:cNvSpPr/>
          <p:nvPr/>
        </p:nvSpPr>
        <p:spPr>
          <a:xfrm>
            <a:off x="1028224" y="2522458"/>
            <a:ext cx="2849880"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oto Serif SC Bold" pitchFamily="34" charset="0"/>
                <a:ea typeface="Noto Serif SC Bold" pitchFamily="34" charset="-122"/>
                <a:cs typeface="Noto Serif SC Bold" pitchFamily="34" charset="-120"/>
              </a:rPr>
              <a:t>Semantic Similarity</a:t>
            </a:r>
            <a:endParaRPr lang="en-US" sz="2200" dirty="0"/>
          </a:p>
        </p:txBody>
      </p:sp>
      <p:sp>
        <p:nvSpPr>
          <p:cNvPr id="5" name="Text 3"/>
          <p:cNvSpPr/>
          <p:nvPr/>
        </p:nvSpPr>
        <p:spPr>
          <a:xfrm>
            <a:off x="1028224" y="3012877"/>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Geist" pitchFamily="34" charset="0"/>
                <a:ea typeface="Geist" pitchFamily="34" charset="-122"/>
                <a:cs typeface="Geist" pitchFamily="34" charset="-120"/>
              </a:rPr>
              <a:t>Vector-based cosine similarity between resume and job embeddings</a:t>
            </a:r>
            <a:endParaRPr lang="en-US" sz="1750" dirty="0"/>
          </a:p>
        </p:txBody>
      </p:sp>
      <p:sp>
        <p:nvSpPr>
          <p:cNvPr id="6" name="Shape 4"/>
          <p:cNvSpPr/>
          <p:nvPr/>
        </p:nvSpPr>
        <p:spPr>
          <a:xfrm>
            <a:off x="5216962" y="2288024"/>
            <a:ext cx="4196358" cy="2047994"/>
          </a:xfrm>
          <a:prstGeom prst="roundRect">
            <a:avLst>
              <a:gd name="adj" fmla="val 9968"/>
            </a:avLst>
          </a:prstGeom>
          <a:solidFill>
            <a:srgbClr val="006747"/>
          </a:solidFill>
          <a:ln w="7620">
            <a:solidFill>
              <a:srgbClr val="198060"/>
            </a:solidFill>
            <a:prstDash val="solid"/>
          </a:ln>
        </p:spPr>
      </p:sp>
      <p:sp>
        <p:nvSpPr>
          <p:cNvPr id="7" name="Text 5"/>
          <p:cNvSpPr/>
          <p:nvPr/>
        </p:nvSpPr>
        <p:spPr>
          <a:xfrm>
            <a:off x="5451396" y="252245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oto Serif SC Bold" pitchFamily="34" charset="0"/>
                <a:ea typeface="Noto Serif SC Bold" pitchFamily="34" charset="-122"/>
                <a:cs typeface="Noto Serif SC Bold" pitchFamily="34" charset="-120"/>
              </a:rPr>
              <a:t>Skill Overlap</a:t>
            </a:r>
            <a:endParaRPr lang="en-US" sz="2200" dirty="0"/>
          </a:p>
        </p:txBody>
      </p:sp>
      <p:sp>
        <p:nvSpPr>
          <p:cNvPr id="8" name="Text 6"/>
          <p:cNvSpPr/>
          <p:nvPr/>
        </p:nvSpPr>
        <p:spPr>
          <a:xfrm>
            <a:off x="5451396" y="3012877"/>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Geist" pitchFamily="34" charset="0"/>
                <a:ea typeface="Geist" pitchFamily="34" charset="-122"/>
                <a:cs typeface="Geist" pitchFamily="34" charset="-120"/>
              </a:rPr>
              <a:t>Match candidate skills with job requirements</a:t>
            </a:r>
            <a:endParaRPr lang="en-US" sz="1750" dirty="0"/>
          </a:p>
        </p:txBody>
      </p:sp>
      <p:sp>
        <p:nvSpPr>
          <p:cNvPr id="9" name="Shape 7"/>
          <p:cNvSpPr/>
          <p:nvPr/>
        </p:nvSpPr>
        <p:spPr>
          <a:xfrm>
            <a:off x="9640133" y="2288024"/>
            <a:ext cx="4196358" cy="2047994"/>
          </a:xfrm>
          <a:prstGeom prst="roundRect">
            <a:avLst>
              <a:gd name="adj" fmla="val 9968"/>
            </a:avLst>
          </a:prstGeom>
          <a:solidFill>
            <a:srgbClr val="006747"/>
          </a:solidFill>
          <a:ln w="7620">
            <a:solidFill>
              <a:srgbClr val="198060"/>
            </a:solidFill>
            <a:prstDash val="solid"/>
          </a:ln>
        </p:spPr>
      </p:sp>
      <p:sp>
        <p:nvSpPr>
          <p:cNvPr id="10" name="Text 8"/>
          <p:cNvSpPr/>
          <p:nvPr/>
        </p:nvSpPr>
        <p:spPr>
          <a:xfrm>
            <a:off x="9874568" y="2522458"/>
            <a:ext cx="3059549"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oto Serif SC Bold" pitchFamily="34" charset="0"/>
                <a:ea typeface="Noto Serif SC Bold" pitchFamily="34" charset="-122"/>
                <a:cs typeface="Noto Serif SC Bold" pitchFamily="34" charset="-120"/>
              </a:rPr>
              <a:t>Experience Matching</a:t>
            </a:r>
            <a:endParaRPr lang="en-US" sz="2200" dirty="0"/>
          </a:p>
        </p:txBody>
      </p:sp>
      <p:sp>
        <p:nvSpPr>
          <p:cNvPr id="11" name="Text 9"/>
          <p:cNvSpPr/>
          <p:nvPr/>
        </p:nvSpPr>
        <p:spPr>
          <a:xfrm>
            <a:off x="9874568" y="3012877"/>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Geist" pitchFamily="34" charset="0"/>
                <a:ea typeface="Geist" pitchFamily="34" charset="-122"/>
                <a:cs typeface="Geist" pitchFamily="34" charset="-120"/>
              </a:rPr>
              <a:t>Evaluate years of experience and role relevance</a:t>
            </a:r>
            <a:endParaRPr lang="en-US" sz="1750" dirty="0"/>
          </a:p>
        </p:txBody>
      </p:sp>
      <p:sp>
        <p:nvSpPr>
          <p:cNvPr id="12" name="Shape 10"/>
          <p:cNvSpPr/>
          <p:nvPr/>
        </p:nvSpPr>
        <p:spPr>
          <a:xfrm>
            <a:off x="793790" y="4562832"/>
            <a:ext cx="6407944" cy="1322189"/>
          </a:xfrm>
          <a:prstGeom prst="roundRect">
            <a:avLst>
              <a:gd name="adj" fmla="val 15440"/>
            </a:avLst>
          </a:prstGeom>
          <a:solidFill>
            <a:srgbClr val="006747"/>
          </a:solidFill>
          <a:ln w="7620">
            <a:solidFill>
              <a:srgbClr val="198060"/>
            </a:solidFill>
            <a:prstDash val="solid"/>
          </a:ln>
        </p:spPr>
      </p:sp>
      <p:sp>
        <p:nvSpPr>
          <p:cNvPr id="13" name="Text 11"/>
          <p:cNvSpPr/>
          <p:nvPr/>
        </p:nvSpPr>
        <p:spPr>
          <a:xfrm>
            <a:off x="1028224" y="4797266"/>
            <a:ext cx="3822740"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oto Serif SC Bold" pitchFamily="34" charset="0"/>
                <a:ea typeface="Noto Serif SC Bold" pitchFamily="34" charset="-122"/>
                <a:cs typeface="Noto Serif SC Bold" pitchFamily="34" charset="-120"/>
              </a:rPr>
              <a:t>Education &amp; Certifications</a:t>
            </a:r>
            <a:endParaRPr lang="en-US" sz="2200" dirty="0"/>
          </a:p>
        </p:txBody>
      </p:sp>
      <p:sp>
        <p:nvSpPr>
          <p:cNvPr id="14" name="Text 12"/>
          <p:cNvSpPr/>
          <p:nvPr/>
        </p:nvSpPr>
        <p:spPr>
          <a:xfrm>
            <a:off x="1028224" y="5287685"/>
            <a:ext cx="5939076"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Geist" pitchFamily="34" charset="0"/>
                <a:ea typeface="Geist" pitchFamily="34" charset="-122"/>
                <a:cs typeface="Geist" pitchFamily="34" charset="-120"/>
              </a:rPr>
              <a:t>Compare qualifications with requirements</a:t>
            </a:r>
            <a:endParaRPr lang="en-US" sz="1750" dirty="0"/>
          </a:p>
        </p:txBody>
      </p:sp>
      <p:sp>
        <p:nvSpPr>
          <p:cNvPr id="15" name="Shape 13"/>
          <p:cNvSpPr/>
          <p:nvPr/>
        </p:nvSpPr>
        <p:spPr>
          <a:xfrm>
            <a:off x="7428548" y="4562832"/>
            <a:ext cx="6407944" cy="1322189"/>
          </a:xfrm>
          <a:prstGeom prst="roundRect">
            <a:avLst>
              <a:gd name="adj" fmla="val 15440"/>
            </a:avLst>
          </a:prstGeom>
          <a:solidFill>
            <a:srgbClr val="006747"/>
          </a:solidFill>
          <a:ln w="7620">
            <a:solidFill>
              <a:srgbClr val="198060"/>
            </a:solidFill>
            <a:prstDash val="solid"/>
          </a:ln>
        </p:spPr>
      </p:sp>
      <p:sp>
        <p:nvSpPr>
          <p:cNvPr id="16" name="Text 14"/>
          <p:cNvSpPr/>
          <p:nvPr/>
        </p:nvSpPr>
        <p:spPr>
          <a:xfrm>
            <a:off x="7662982" y="479726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Noto Serif SC Bold" pitchFamily="34" charset="0"/>
                <a:ea typeface="Noto Serif SC Bold" pitchFamily="34" charset="-122"/>
                <a:cs typeface="Noto Serif SC Bold" pitchFamily="34" charset="-120"/>
              </a:rPr>
              <a:t>Project Relevance</a:t>
            </a:r>
            <a:endParaRPr lang="en-US" sz="2200" dirty="0"/>
          </a:p>
        </p:txBody>
      </p:sp>
      <p:sp>
        <p:nvSpPr>
          <p:cNvPr id="17" name="Text 15"/>
          <p:cNvSpPr/>
          <p:nvPr/>
        </p:nvSpPr>
        <p:spPr>
          <a:xfrm>
            <a:off x="7662982" y="5287685"/>
            <a:ext cx="5939076"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Geist" pitchFamily="34" charset="0"/>
                <a:ea typeface="Geist" pitchFamily="34" charset="-122"/>
                <a:cs typeface="Geist" pitchFamily="34" charset="-120"/>
              </a:rPr>
              <a:t>Assess portfolio alignment with job needs</a:t>
            </a:r>
            <a:endParaRPr lang="en-US" sz="1750" dirty="0"/>
          </a:p>
        </p:txBody>
      </p:sp>
      <p:sp>
        <p:nvSpPr>
          <p:cNvPr id="18" name="Shape 16"/>
          <p:cNvSpPr/>
          <p:nvPr/>
        </p:nvSpPr>
        <p:spPr>
          <a:xfrm>
            <a:off x="793790" y="6140172"/>
            <a:ext cx="13042821" cy="963811"/>
          </a:xfrm>
          <a:prstGeom prst="roundRect">
            <a:avLst>
              <a:gd name="adj" fmla="val 21181"/>
            </a:avLst>
          </a:prstGeom>
          <a:solidFill>
            <a:srgbClr val="B3FFE7"/>
          </a:solidFill>
          <a:ln/>
        </p:spPr>
      </p:sp>
      <p:pic>
        <p:nvPicPr>
          <p:cNvPr id="19" name="Image 0" descr="preencoded.png"/>
          <p:cNvPicPr>
            <a:picLocks noChangeAspect="1"/>
          </p:cNvPicPr>
          <p:nvPr/>
        </p:nvPicPr>
        <p:blipFill>
          <a:blip r:embed="rId3"/>
          <a:stretch>
            <a:fillRect/>
          </a:stretch>
        </p:blipFill>
        <p:spPr>
          <a:xfrm>
            <a:off x="1020604" y="6484263"/>
            <a:ext cx="283488" cy="226814"/>
          </a:xfrm>
          <a:prstGeom prst="rect">
            <a:avLst/>
          </a:prstGeom>
        </p:spPr>
      </p:pic>
      <p:sp>
        <p:nvSpPr>
          <p:cNvPr id="20" name="Text 17"/>
          <p:cNvSpPr/>
          <p:nvPr/>
        </p:nvSpPr>
        <p:spPr>
          <a:xfrm>
            <a:off x="1530906" y="6423660"/>
            <a:ext cx="12078891" cy="362903"/>
          </a:xfrm>
          <a:prstGeom prst="rect">
            <a:avLst/>
          </a:prstGeom>
          <a:noFill/>
          <a:ln/>
        </p:spPr>
        <p:txBody>
          <a:bodyPr wrap="none" lIns="0" tIns="0" rIns="0" bIns="0" rtlCol="0" anchor="t"/>
          <a:lstStyle/>
          <a:p>
            <a:pPr marL="0" indent="0" algn="l">
              <a:lnSpc>
                <a:spcPts val="2850"/>
              </a:lnSpc>
              <a:buNone/>
            </a:pPr>
            <a:r>
              <a:rPr lang="en-US" sz="1750" b="1" dirty="0">
                <a:solidFill>
                  <a:srgbClr val="000000"/>
                </a:solidFill>
                <a:latin typeface="Geist" pitchFamily="34" charset="0"/>
                <a:ea typeface="Geist" pitchFamily="34" charset="-122"/>
                <a:cs typeface="Geist" pitchFamily="34" charset="-120"/>
              </a:rPr>
              <a:t>Final Score</a:t>
            </a:r>
            <a:r>
              <a:rPr lang="en-US" sz="1750" dirty="0">
                <a:solidFill>
                  <a:srgbClr val="000000"/>
                </a:solidFill>
                <a:latin typeface="Geist" pitchFamily="34" charset="0"/>
                <a:ea typeface="Geist" pitchFamily="34" charset="-122"/>
                <a:cs typeface="Geist" pitchFamily="34" charset="-120"/>
              </a:rPr>
              <a:t> = Weighted combination of all components for comprehensive candidate evaluation</a:t>
            </a:r>
            <a:endParaRPr lang="en-US" sz="1750" dirty="0"/>
          </a:p>
        </p:txBody>
      </p:sp>
      <p:sp>
        <p:nvSpPr>
          <p:cNvPr id="21" name="Rectangle 20">
            <a:extLst>
              <a:ext uri="{FF2B5EF4-FFF2-40B4-BE49-F238E27FC236}">
                <a16:creationId xmlns:a16="http://schemas.microsoft.com/office/drawing/2014/main" id="{33C33160-A285-44E7-FD2D-E70CA98E7274}"/>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5813" y="618292"/>
            <a:ext cx="7212211" cy="701635"/>
          </a:xfrm>
          <a:prstGeom prst="rect">
            <a:avLst/>
          </a:prstGeom>
          <a:noFill/>
          <a:ln/>
        </p:spPr>
        <p:txBody>
          <a:bodyPr wrap="none" lIns="0" tIns="0" rIns="0" bIns="0" rtlCol="0" anchor="t"/>
          <a:lstStyle/>
          <a:p>
            <a:pPr marL="0" indent="0" algn="l">
              <a:lnSpc>
                <a:spcPts val="5500"/>
              </a:lnSpc>
              <a:buNone/>
            </a:pPr>
            <a:r>
              <a:rPr lang="en-US" sz="4400" b="1" dirty="0">
                <a:solidFill>
                  <a:srgbClr val="006747"/>
                </a:solidFill>
                <a:latin typeface="Noto Serif SC Bold" pitchFamily="34" charset="0"/>
                <a:ea typeface="Noto Serif SC Bold" pitchFamily="34" charset="-122"/>
                <a:cs typeface="Noto Serif SC Bold" pitchFamily="34" charset="-120"/>
              </a:rPr>
              <a:t>AI-Powered Explanations</a:t>
            </a:r>
            <a:endParaRPr lang="en-US" sz="4400" dirty="0"/>
          </a:p>
        </p:txBody>
      </p:sp>
      <p:sp>
        <p:nvSpPr>
          <p:cNvPr id="3" name="Text 1"/>
          <p:cNvSpPr/>
          <p:nvPr/>
        </p:nvSpPr>
        <p:spPr>
          <a:xfrm>
            <a:off x="785813" y="1768912"/>
            <a:ext cx="13058775" cy="359212"/>
          </a:xfrm>
          <a:prstGeom prst="rect">
            <a:avLst/>
          </a:prstGeom>
          <a:noFill/>
          <a:ln/>
        </p:spPr>
        <p:txBody>
          <a:bodyPr wrap="non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The LangChain Explanation Chain provides transparent, human-readable insights:</a:t>
            </a:r>
            <a:endParaRPr lang="en-US" sz="1750" dirty="0"/>
          </a:p>
        </p:txBody>
      </p:sp>
      <p:sp>
        <p:nvSpPr>
          <p:cNvPr id="4" name="Shape 2"/>
          <p:cNvSpPr/>
          <p:nvPr/>
        </p:nvSpPr>
        <p:spPr>
          <a:xfrm>
            <a:off x="785813" y="2380655"/>
            <a:ext cx="4203263" cy="1713667"/>
          </a:xfrm>
          <a:prstGeom prst="roundRect">
            <a:avLst>
              <a:gd name="adj" fmla="val 8537"/>
            </a:avLst>
          </a:prstGeom>
          <a:solidFill>
            <a:srgbClr val="E5F9F2">
              <a:alpha val="95000"/>
            </a:srgbClr>
          </a:solidFill>
          <a:ln w="30480">
            <a:solidFill>
              <a:srgbClr val="B7D5CA"/>
            </a:solidFill>
            <a:prstDash val="solid"/>
          </a:ln>
        </p:spPr>
      </p:sp>
      <p:sp>
        <p:nvSpPr>
          <p:cNvPr id="5" name="Shape 3"/>
          <p:cNvSpPr/>
          <p:nvPr/>
        </p:nvSpPr>
        <p:spPr>
          <a:xfrm>
            <a:off x="755333" y="2380655"/>
            <a:ext cx="121920" cy="1713667"/>
          </a:xfrm>
          <a:prstGeom prst="roundRect">
            <a:avLst>
              <a:gd name="adj" fmla="val 165754"/>
            </a:avLst>
          </a:prstGeom>
          <a:solidFill>
            <a:srgbClr val="006747"/>
          </a:solidFill>
          <a:ln/>
        </p:spPr>
      </p:sp>
      <p:sp>
        <p:nvSpPr>
          <p:cNvPr id="6" name="Text 4"/>
          <p:cNvSpPr/>
          <p:nvPr/>
        </p:nvSpPr>
        <p:spPr>
          <a:xfrm>
            <a:off x="1132165" y="2635568"/>
            <a:ext cx="2806660"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Summary</a:t>
            </a:r>
            <a:endParaRPr lang="en-US" sz="2200" dirty="0"/>
          </a:p>
        </p:txBody>
      </p:sp>
      <p:sp>
        <p:nvSpPr>
          <p:cNvPr id="7" name="Text 5"/>
          <p:cNvSpPr/>
          <p:nvPr/>
        </p:nvSpPr>
        <p:spPr>
          <a:xfrm>
            <a:off x="1132165" y="3120985"/>
            <a:ext cx="3601998" cy="359212"/>
          </a:xfrm>
          <a:prstGeom prst="rect">
            <a:avLst/>
          </a:prstGeom>
          <a:noFill/>
          <a:ln/>
        </p:spPr>
        <p:txBody>
          <a:bodyPr wrap="non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Overall fit assessment</a:t>
            </a:r>
            <a:endParaRPr lang="en-US" sz="1750" dirty="0"/>
          </a:p>
        </p:txBody>
      </p:sp>
      <p:sp>
        <p:nvSpPr>
          <p:cNvPr id="8" name="Shape 6"/>
          <p:cNvSpPr/>
          <p:nvPr/>
        </p:nvSpPr>
        <p:spPr>
          <a:xfrm>
            <a:off x="5213509" y="2380655"/>
            <a:ext cx="4203263" cy="1713667"/>
          </a:xfrm>
          <a:prstGeom prst="roundRect">
            <a:avLst>
              <a:gd name="adj" fmla="val 8537"/>
            </a:avLst>
          </a:prstGeom>
          <a:solidFill>
            <a:srgbClr val="E5F9F2">
              <a:alpha val="95000"/>
            </a:srgbClr>
          </a:solidFill>
          <a:ln w="30480">
            <a:solidFill>
              <a:srgbClr val="B7D5CA"/>
            </a:solidFill>
            <a:prstDash val="solid"/>
          </a:ln>
        </p:spPr>
      </p:sp>
      <p:sp>
        <p:nvSpPr>
          <p:cNvPr id="9" name="Shape 7"/>
          <p:cNvSpPr/>
          <p:nvPr/>
        </p:nvSpPr>
        <p:spPr>
          <a:xfrm>
            <a:off x="5183029" y="2380655"/>
            <a:ext cx="121920" cy="1713667"/>
          </a:xfrm>
          <a:prstGeom prst="roundRect">
            <a:avLst>
              <a:gd name="adj" fmla="val 165754"/>
            </a:avLst>
          </a:prstGeom>
          <a:solidFill>
            <a:srgbClr val="006747"/>
          </a:solidFill>
          <a:ln/>
        </p:spPr>
      </p:sp>
      <p:sp>
        <p:nvSpPr>
          <p:cNvPr id="10" name="Text 8"/>
          <p:cNvSpPr/>
          <p:nvPr/>
        </p:nvSpPr>
        <p:spPr>
          <a:xfrm>
            <a:off x="5559862" y="2635568"/>
            <a:ext cx="2806660"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Strengths</a:t>
            </a:r>
            <a:endParaRPr lang="en-US" sz="2200" dirty="0"/>
          </a:p>
        </p:txBody>
      </p:sp>
      <p:sp>
        <p:nvSpPr>
          <p:cNvPr id="11" name="Text 9"/>
          <p:cNvSpPr/>
          <p:nvPr/>
        </p:nvSpPr>
        <p:spPr>
          <a:xfrm>
            <a:off x="5559862" y="3120985"/>
            <a:ext cx="3601998" cy="718423"/>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What makes the candidate a good match</a:t>
            </a:r>
            <a:endParaRPr lang="en-US" sz="1750" dirty="0"/>
          </a:p>
        </p:txBody>
      </p:sp>
      <p:sp>
        <p:nvSpPr>
          <p:cNvPr id="12" name="Shape 10"/>
          <p:cNvSpPr/>
          <p:nvPr/>
        </p:nvSpPr>
        <p:spPr>
          <a:xfrm>
            <a:off x="9641205" y="2380655"/>
            <a:ext cx="4203383" cy="1713667"/>
          </a:xfrm>
          <a:prstGeom prst="roundRect">
            <a:avLst>
              <a:gd name="adj" fmla="val 8537"/>
            </a:avLst>
          </a:prstGeom>
          <a:solidFill>
            <a:srgbClr val="E5F9F2">
              <a:alpha val="95000"/>
            </a:srgbClr>
          </a:solidFill>
          <a:ln w="30480">
            <a:solidFill>
              <a:srgbClr val="B7D5CA"/>
            </a:solidFill>
            <a:prstDash val="solid"/>
          </a:ln>
        </p:spPr>
      </p:sp>
      <p:sp>
        <p:nvSpPr>
          <p:cNvPr id="13" name="Shape 11"/>
          <p:cNvSpPr/>
          <p:nvPr/>
        </p:nvSpPr>
        <p:spPr>
          <a:xfrm>
            <a:off x="9610725" y="2380655"/>
            <a:ext cx="121920" cy="1713667"/>
          </a:xfrm>
          <a:prstGeom prst="roundRect">
            <a:avLst>
              <a:gd name="adj" fmla="val 165754"/>
            </a:avLst>
          </a:prstGeom>
          <a:solidFill>
            <a:srgbClr val="006747"/>
          </a:solidFill>
          <a:ln/>
        </p:spPr>
      </p:sp>
      <p:sp>
        <p:nvSpPr>
          <p:cNvPr id="14" name="Text 12"/>
          <p:cNvSpPr/>
          <p:nvPr/>
        </p:nvSpPr>
        <p:spPr>
          <a:xfrm>
            <a:off x="9987558" y="2635568"/>
            <a:ext cx="2806660"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Gaps</a:t>
            </a:r>
            <a:endParaRPr lang="en-US" sz="2200" dirty="0"/>
          </a:p>
        </p:txBody>
      </p:sp>
      <p:sp>
        <p:nvSpPr>
          <p:cNvPr id="15" name="Text 13"/>
          <p:cNvSpPr/>
          <p:nvPr/>
        </p:nvSpPr>
        <p:spPr>
          <a:xfrm>
            <a:off x="9987558" y="3120985"/>
            <a:ext cx="3602117" cy="718423"/>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Areas where candidate may fall short</a:t>
            </a:r>
            <a:endParaRPr lang="en-US" sz="1750" dirty="0"/>
          </a:p>
        </p:txBody>
      </p:sp>
      <p:sp>
        <p:nvSpPr>
          <p:cNvPr id="16" name="Shape 14"/>
          <p:cNvSpPr/>
          <p:nvPr/>
        </p:nvSpPr>
        <p:spPr>
          <a:xfrm>
            <a:off x="785813" y="4318754"/>
            <a:ext cx="4203263" cy="1713667"/>
          </a:xfrm>
          <a:prstGeom prst="roundRect">
            <a:avLst>
              <a:gd name="adj" fmla="val 8537"/>
            </a:avLst>
          </a:prstGeom>
          <a:solidFill>
            <a:srgbClr val="E5F9F2">
              <a:alpha val="95000"/>
            </a:srgbClr>
          </a:solidFill>
          <a:ln w="30480">
            <a:solidFill>
              <a:srgbClr val="B7D5CA"/>
            </a:solidFill>
            <a:prstDash val="solid"/>
          </a:ln>
        </p:spPr>
      </p:sp>
      <p:sp>
        <p:nvSpPr>
          <p:cNvPr id="17" name="Shape 15"/>
          <p:cNvSpPr/>
          <p:nvPr/>
        </p:nvSpPr>
        <p:spPr>
          <a:xfrm>
            <a:off x="755333" y="4318754"/>
            <a:ext cx="121920" cy="1713667"/>
          </a:xfrm>
          <a:prstGeom prst="roundRect">
            <a:avLst>
              <a:gd name="adj" fmla="val 165754"/>
            </a:avLst>
          </a:prstGeom>
          <a:solidFill>
            <a:srgbClr val="006747"/>
          </a:solidFill>
          <a:ln/>
        </p:spPr>
      </p:sp>
      <p:sp>
        <p:nvSpPr>
          <p:cNvPr id="18" name="Text 16"/>
          <p:cNvSpPr/>
          <p:nvPr/>
        </p:nvSpPr>
        <p:spPr>
          <a:xfrm>
            <a:off x="1132165" y="4573667"/>
            <a:ext cx="2876193"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Experience Analysis</a:t>
            </a:r>
            <a:endParaRPr lang="en-US" sz="2200" dirty="0"/>
          </a:p>
        </p:txBody>
      </p:sp>
      <p:sp>
        <p:nvSpPr>
          <p:cNvPr id="19" name="Text 17"/>
          <p:cNvSpPr/>
          <p:nvPr/>
        </p:nvSpPr>
        <p:spPr>
          <a:xfrm>
            <a:off x="1132165" y="5059085"/>
            <a:ext cx="3601998" cy="359212"/>
          </a:xfrm>
          <a:prstGeom prst="rect">
            <a:avLst/>
          </a:prstGeom>
          <a:noFill/>
          <a:ln/>
        </p:spPr>
        <p:txBody>
          <a:bodyPr wrap="non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Detailed work history evaluation</a:t>
            </a:r>
            <a:endParaRPr lang="en-US" sz="1750" dirty="0"/>
          </a:p>
        </p:txBody>
      </p:sp>
      <p:sp>
        <p:nvSpPr>
          <p:cNvPr id="20" name="Shape 18"/>
          <p:cNvSpPr/>
          <p:nvPr/>
        </p:nvSpPr>
        <p:spPr>
          <a:xfrm>
            <a:off x="5213509" y="4318754"/>
            <a:ext cx="4203263" cy="1713667"/>
          </a:xfrm>
          <a:prstGeom prst="roundRect">
            <a:avLst>
              <a:gd name="adj" fmla="val 8537"/>
            </a:avLst>
          </a:prstGeom>
          <a:solidFill>
            <a:srgbClr val="E5F9F2">
              <a:alpha val="95000"/>
            </a:srgbClr>
          </a:solidFill>
          <a:ln w="30480">
            <a:solidFill>
              <a:srgbClr val="B7D5CA"/>
            </a:solidFill>
            <a:prstDash val="solid"/>
          </a:ln>
        </p:spPr>
      </p:sp>
      <p:sp>
        <p:nvSpPr>
          <p:cNvPr id="21" name="Shape 19"/>
          <p:cNvSpPr/>
          <p:nvPr/>
        </p:nvSpPr>
        <p:spPr>
          <a:xfrm>
            <a:off x="5183029" y="4318754"/>
            <a:ext cx="121920" cy="1713667"/>
          </a:xfrm>
          <a:prstGeom prst="roundRect">
            <a:avLst>
              <a:gd name="adj" fmla="val 165754"/>
            </a:avLst>
          </a:prstGeom>
          <a:solidFill>
            <a:srgbClr val="006747"/>
          </a:solidFill>
          <a:ln/>
        </p:spPr>
      </p:sp>
      <p:sp>
        <p:nvSpPr>
          <p:cNvPr id="22" name="Text 20"/>
          <p:cNvSpPr/>
          <p:nvPr/>
        </p:nvSpPr>
        <p:spPr>
          <a:xfrm>
            <a:off x="5559862" y="4573667"/>
            <a:ext cx="2806660"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Project Relevance</a:t>
            </a:r>
            <a:endParaRPr lang="en-US" sz="2200" dirty="0"/>
          </a:p>
        </p:txBody>
      </p:sp>
      <p:sp>
        <p:nvSpPr>
          <p:cNvPr id="23" name="Text 21"/>
          <p:cNvSpPr/>
          <p:nvPr/>
        </p:nvSpPr>
        <p:spPr>
          <a:xfrm>
            <a:off x="5559862" y="5059085"/>
            <a:ext cx="3601998" cy="718423"/>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How past projects align with the role</a:t>
            </a:r>
            <a:endParaRPr lang="en-US" sz="1750" dirty="0"/>
          </a:p>
        </p:txBody>
      </p:sp>
      <p:sp>
        <p:nvSpPr>
          <p:cNvPr id="24" name="Shape 22"/>
          <p:cNvSpPr/>
          <p:nvPr/>
        </p:nvSpPr>
        <p:spPr>
          <a:xfrm>
            <a:off x="9641205" y="4318754"/>
            <a:ext cx="4203383" cy="1713667"/>
          </a:xfrm>
          <a:prstGeom prst="roundRect">
            <a:avLst>
              <a:gd name="adj" fmla="val 8537"/>
            </a:avLst>
          </a:prstGeom>
          <a:solidFill>
            <a:srgbClr val="E5F9F2">
              <a:alpha val="95000"/>
            </a:srgbClr>
          </a:solidFill>
          <a:ln w="30480">
            <a:solidFill>
              <a:srgbClr val="B7D5CA"/>
            </a:solidFill>
            <a:prstDash val="solid"/>
          </a:ln>
        </p:spPr>
      </p:sp>
      <p:sp>
        <p:nvSpPr>
          <p:cNvPr id="25" name="Shape 23"/>
          <p:cNvSpPr/>
          <p:nvPr/>
        </p:nvSpPr>
        <p:spPr>
          <a:xfrm>
            <a:off x="9610725" y="4318754"/>
            <a:ext cx="121920" cy="1713667"/>
          </a:xfrm>
          <a:prstGeom prst="roundRect">
            <a:avLst>
              <a:gd name="adj" fmla="val 165754"/>
            </a:avLst>
          </a:prstGeom>
          <a:solidFill>
            <a:srgbClr val="006747"/>
          </a:solidFill>
          <a:ln/>
        </p:spPr>
      </p:sp>
      <p:sp>
        <p:nvSpPr>
          <p:cNvPr id="26" name="Text 24"/>
          <p:cNvSpPr/>
          <p:nvPr/>
        </p:nvSpPr>
        <p:spPr>
          <a:xfrm>
            <a:off x="9987558" y="4573667"/>
            <a:ext cx="2806660"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Recommendations</a:t>
            </a:r>
            <a:endParaRPr lang="en-US" sz="2200" dirty="0"/>
          </a:p>
        </p:txBody>
      </p:sp>
      <p:sp>
        <p:nvSpPr>
          <p:cNvPr id="27" name="Text 25"/>
          <p:cNvSpPr/>
          <p:nvPr/>
        </p:nvSpPr>
        <p:spPr>
          <a:xfrm>
            <a:off x="9987558" y="5059085"/>
            <a:ext cx="3602117" cy="718423"/>
          </a:xfrm>
          <a:prstGeom prst="rect">
            <a:avLst/>
          </a:prstGeom>
          <a:noFill/>
          <a:ln/>
        </p:spPr>
        <p:txBody>
          <a:bodyPr wrap="squar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Actionable insights for hiring decisions</a:t>
            </a:r>
            <a:endParaRPr lang="en-US" sz="1750" dirty="0"/>
          </a:p>
        </p:txBody>
      </p:sp>
      <p:sp>
        <p:nvSpPr>
          <p:cNvPr id="28" name="Shape 26"/>
          <p:cNvSpPr/>
          <p:nvPr/>
        </p:nvSpPr>
        <p:spPr>
          <a:xfrm>
            <a:off x="785813" y="6256853"/>
            <a:ext cx="4203263" cy="1354455"/>
          </a:xfrm>
          <a:prstGeom prst="roundRect">
            <a:avLst>
              <a:gd name="adj" fmla="val 10802"/>
            </a:avLst>
          </a:prstGeom>
          <a:solidFill>
            <a:srgbClr val="E5F9F2">
              <a:alpha val="95000"/>
            </a:srgbClr>
          </a:solidFill>
          <a:ln w="30480">
            <a:solidFill>
              <a:srgbClr val="B7D5CA"/>
            </a:solidFill>
            <a:prstDash val="solid"/>
          </a:ln>
        </p:spPr>
      </p:sp>
      <p:sp>
        <p:nvSpPr>
          <p:cNvPr id="29" name="Shape 27"/>
          <p:cNvSpPr/>
          <p:nvPr/>
        </p:nvSpPr>
        <p:spPr>
          <a:xfrm>
            <a:off x="755333" y="6256853"/>
            <a:ext cx="121920" cy="1354455"/>
          </a:xfrm>
          <a:prstGeom prst="roundRect">
            <a:avLst>
              <a:gd name="adj" fmla="val 165754"/>
            </a:avLst>
          </a:prstGeom>
          <a:solidFill>
            <a:srgbClr val="006747"/>
          </a:solidFill>
          <a:ln/>
        </p:spPr>
      </p:sp>
      <p:sp>
        <p:nvSpPr>
          <p:cNvPr id="30" name="Text 28"/>
          <p:cNvSpPr/>
          <p:nvPr/>
        </p:nvSpPr>
        <p:spPr>
          <a:xfrm>
            <a:off x="1132165" y="6511766"/>
            <a:ext cx="2815114" cy="350758"/>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Fit Score Reasoning</a:t>
            </a:r>
            <a:endParaRPr lang="en-US" sz="2200" dirty="0"/>
          </a:p>
        </p:txBody>
      </p:sp>
      <p:sp>
        <p:nvSpPr>
          <p:cNvPr id="31" name="Text 29"/>
          <p:cNvSpPr/>
          <p:nvPr/>
        </p:nvSpPr>
        <p:spPr>
          <a:xfrm>
            <a:off x="1132165" y="6997184"/>
            <a:ext cx="3601998" cy="359212"/>
          </a:xfrm>
          <a:prstGeom prst="rect">
            <a:avLst/>
          </a:prstGeom>
          <a:noFill/>
          <a:ln/>
        </p:spPr>
        <p:txBody>
          <a:bodyPr wrap="none" lIns="0" tIns="0" rIns="0" bIns="0" rtlCol="0" anchor="t"/>
          <a:lstStyle/>
          <a:p>
            <a:pPr marL="0" indent="0" algn="l">
              <a:lnSpc>
                <a:spcPts val="2800"/>
              </a:lnSpc>
              <a:buNone/>
            </a:pPr>
            <a:r>
              <a:rPr lang="en-US" sz="1750" dirty="0">
                <a:solidFill>
                  <a:srgbClr val="4B4A4A"/>
                </a:solidFill>
                <a:latin typeface="Geist" pitchFamily="34" charset="0"/>
                <a:ea typeface="Geist" pitchFamily="34" charset="-122"/>
                <a:cs typeface="Geist" pitchFamily="34" charset="-120"/>
              </a:rPr>
              <a:t>Transparent scoring explanation</a:t>
            </a:r>
            <a:endParaRPr lang="en-US" sz="1750" dirty="0"/>
          </a:p>
        </p:txBody>
      </p:sp>
      <p:sp>
        <p:nvSpPr>
          <p:cNvPr id="32" name="Rectangle 31">
            <a:extLst>
              <a:ext uri="{FF2B5EF4-FFF2-40B4-BE49-F238E27FC236}">
                <a16:creationId xmlns:a16="http://schemas.microsoft.com/office/drawing/2014/main" id="{B09F8D7A-B520-42F8-5532-B9A6D8BEA9E2}"/>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89052"/>
            <a:ext cx="6249829"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Results &amp; Key Metrics</a:t>
            </a:r>
            <a:endParaRPr lang="en-US" sz="4450" dirty="0"/>
          </a:p>
        </p:txBody>
      </p:sp>
      <p:sp>
        <p:nvSpPr>
          <p:cNvPr id="3" name="Text 1"/>
          <p:cNvSpPr/>
          <p:nvPr/>
        </p:nvSpPr>
        <p:spPr>
          <a:xfrm>
            <a:off x="793790" y="2264807"/>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4B4A4A"/>
                </a:solidFill>
                <a:latin typeface="Noto Serif SC Bold" pitchFamily="34" charset="0"/>
                <a:ea typeface="Noto Serif SC Bold" pitchFamily="34" charset="-122"/>
                <a:cs typeface="Noto Serif SC Bold" pitchFamily="34" charset="-120"/>
              </a:rPr>
              <a:t>20+</a:t>
            </a:r>
            <a:endParaRPr lang="en-US" sz="5850" dirty="0"/>
          </a:p>
        </p:txBody>
      </p:sp>
      <p:sp>
        <p:nvSpPr>
          <p:cNvPr id="4" name="Text 2"/>
          <p:cNvSpPr/>
          <p:nvPr/>
        </p:nvSpPr>
        <p:spPr>
          <a:xfrm>
            <a:off x="1455420" y="3296603"/>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Data Points</a:t>
            </a:r>
            <a:endParaRPr lang="en-US" sz="2200" dirty="0"/>
          </a:p>
        </p:txBody>
      </p:sp>
      <p:sp>
        <p:nvSpPr>
          <p:cNvPr id="5" name="Text 3"/>
          <p:cNvSpPr/>
          <p:nvPr/>
        </p:nvSpPr>
        <p:spPr>
          <a:xfrm>
            <a:off x="793790" y="3787021"/>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4B4A4A"/>
                </a:solidFill>
                <a:latin typeface="Geist" pitchFamily="34" charset="0"/>
                <a:ea typeface="Geist" pitchFamily="34" charset="-122"/>
                <a:cs typeface="Geist" pitchFamily="34" charset="-120"/>
              </a:rPr>
              <a:t>Extracted from each resume for comprehensive analysis</a:t>
            </a:r>
            <a:endParaRPr lang="en-US" sz="1750" dirty="0"/>
          </a:p>
        </p:txBody>
      </p:sp>
      <p:sp>
        <p:nvSpPr>
          <p:cNvPr id="6" name="Text 4"/>
          <p:cNvSpPr/>
          <p:nvPr/>
        </p:nvSpPr>
        <p:spPr>
          <a:xfrm>
            <a:off x="5235893" y="2264807"/>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4B4A4A"/>
                </a:solidFill>
                <a:latin typeface="Noto Serif SC Bold" pitchFamily="34" charset="0"/>
                <a:ea typeface="Noto Serif SC Bold" pitchFamily="34" charset="-122"/>
                <a:cs typeface="Noto Serif SC Bold" pitchFamily="34" charset="-120"/>
              </a:rPr>
              <a:t>2</a:t>
            </a:r>
            <a:endParaRPr lang="en-US" sz="5850" dirty="0"/>
          </a:p>
        </p:txBody>
      </p:sp>
      <p:sp>
        <p:nvSpPr>
          <p:cNvPr id="7" name="Text 5"/>
          <p:cNvSpPr/>
          <p:nvPr/>
        </p:nvSpPr>
        <p:spPr>
          <a:xfrm>
            <a:off x="5751314" y="3296603"/>
            <a:ext cx="3127653" cy="354330"/>
          </a:xfrm>
          <a:prstGeom prst="rect">
            <a:avLst/>
          </a:prstGeom>
          <a:noFill/>
          <a:ln/>
        </p:spPr>
        <p:txBody>
          <a:bodyPr wrap="none" lIns="0" tIns="0" rIns="0" bIns="0" rtlCol="0" anchor="t"/>
          <a:lstStyle/>
          <a:p>
            <a:pPr marL="0" indent="0" algn="ctr">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Embedding Providers</a:t>
            </a:r>
            <a:endParaRPr lang="en-US" sz="2200" dirty="0"/>
          </a:p>
        </p:txBody>
      </p:sp>
      <p:sp>
        <p:nvSpPr>
          <p:cNvPr id="8" name="Text 6"/>
          <p:cNvSpPr/>
          <p:nvPr/>
        </p:nvSpPr>
        <p:spPr>
          <a:xfrm>
            <a:off x="5235893" y="3787021"/>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4B4A4A"/>
                </a:solidFill>
                <a:latin typeface="Geist" pitchFamily="34" charset="0"/>
                <a:ea typeface="Geist" pitchFamily="34" charset="-122"/>
                <a:cs typeface="Geist" pitchFamily="34" charset="-120"/>
              </a:rPr>
              <a:t>Flexible support for multiple AI platforms</a:t>
            </a:r>
            <a:endParaRPr lang="en-US" sz="1750" dirty="0"/>
          </a:p>
        </p:txBody>
      </p:sp>
      <p:sp>
        <p:nvSpPr>
          <p:cNvPr id="9" name="Text 7"/>
          <p:cNvSpPr/>
          <p:nvPr/>
        </p:nvSpPr>
        <p:spPr>
          <a:xfrm>
            <a:off x="9677995" y="2264807"/>
            <a:ext cx="4158615" cy="748427"/>
          </a:xfrm>
          <a:prstGeom prst="rect">
            <a:avLst/>
          </a:prstGeom>
          <a:noFill/>
          <a:ln/>
        </p:spPr>
        <p:txBody>
          <a:bodyPr wrap="none" lIns="0" tIns="0" rIns="0" bIns="0" rtlCol="0" anchor="t"/>
          <a:lstStyle/>
          <a:p>
            <a:pPr marL="0" indent="0" algn="ctr">
              <a:lnSpc>
                <a:spcPts val="5850"/>
              </a:lnSpc>
              <a:buNone/>
            </a:pPr>
            <a:r>
              <a:rPr lang="en-US" sz="5850" b="1" dirty="0">
                <a:solidFill>
                  <a:srgbClr val="4B4A4A"/>
                </a:solidFill>
                <a:latin typeface="Noto Serif SC Bold" pitchFamily="34" charset="0"/>
                <a:ea typeface="Noto Serif SC Bold" pitchFamily="34" charset="-122"/>
                <a:cs typeface="Noto Serif SC Bold" pitchFamily="34" charset="-120"/>
              </a:rPr>
              <a:t>5</a:t>
            </a:r>
            <a:endParaRPr lang="en-US" sz="5850" dirty="0"/>
          </a:p>
        </p:txBody>
      </p:sp>
      <p:sp>
        <p:nvSpPr>
          <p:cNvPr id="10" name="Text 8"/>
          <p:cNvSpPr/>
          <p:nvPr/>
        </p:nvSpPr>
        <p:spPr>
          <a:xfrm>
            <a:off x="10253424" y="3296603"/>
            <a:ext cx="3007757" cy="354330"/>
          </a:xfrm>
          <a:prstGeom prst="rect">
            <a:avLst/>
          </a:prstGeom>
          <a:noFill/>
          <a:ln/>
        </p:spPr>
        <p:txBody>
          <a:bodyPr wrap="none" lIns="0" tIns="0" rIns="0" bIns="0" rtlCol="0" anchor="t"/>
          <a:lstStyle/>
          <a:p>
            <a:pPr marL="0" indent="0" algn="ctr">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Scoring Components</a:t>
            </a:r>
            <a:endParaRPr lang="en-US" sz="2200" dirty="0"/>
          </a:p>
        </p:txBody>
      </p:sp>
      <p:sp>
        <p:nvSpPr>
          <p:cNvPr id="11" name="Text 9"/>
          <p:cNvSpPr/>
          <p:nvPr/>
        </p:nvSpPr>
        <p:spPr>
          <a:xfrm>
            <a:off x="9677995" y="3787021"/>
            <a:ext cx="4158615" cy="362903"/>
          </a:xfrm>
          <a:prstGeom prst="rect">
            <a:avLst/>
          </a:prstGeom>
          <a:noFill/>
          <a:ln/>
        </p:spPr>
        <p:txBody>
          <a:bodyPr wrap="none" lIns="0" tIns="0" rIns="0" bIns="0" rtlCol="0" anchor="t"/>
          <a:lstStyle/>
          <a:p>
            <a:pPr marL="0" indent="0" algn="ctr">
              <a:lnSpc>
                <a:spcPts val="2850"/>
              </a:lnSpc>
              <a:buNone/>
            </a:pPr>
            <a:r>
              <a:rPr lang="en-US" sz="1750" dirty="0">
                <a:solidFill>
                  <a:srgbClr val="4B4A4A"/>
                </a:solidFill>
                <a:latin typeface="Geist" pitchFamily="34" charset="0"/>
                <a:ea typeface="Geist" pitchFamily="34" charset="-122"/>
                <a:cs typeface="Geist" pitchFamily="34" charset="-120"/>
              </a:rPr>
              <a:t>Multi-dimensional candidate evaluation</a:t>
            </a:r>
            <a:endParaRPr lang="en-US" sz="1750" dirty="0"/>
          </a:p>
        </p:txBody>
      </p:sp>
      <p:sp>
        <p:nvSpPr>
          <p:cNvPr id="12" name="Shape 10"/>
          <p:cNvSpPr/>
          <p:nvPr/>
        </p:nvSpPr>
        <p:spPr>
          <a:xfrm>
            <a:off x="793790" y="4881357"/>
            <a:ext cx="13042821" cy="35957"/>
          </a:xfrm>
          <a:prstGeom prst="rect">
            <a:avLst/>
          </a:prstGeom>
          <a:solidFill>
            <a:srgbClr val="4B4A4A">
              <a:alpha val="50000"/>
            </a:srgbClr>
          </a:solidFill>
          <a:ln/>
        </p:spPr>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5172432"/>
            <a:ext cx="566976" cy="566976"/>
          </a:xfrm>
          <a:prstGeom prst="rect">
            <a:avLst/>
          </a:prstGeom>
        </p:spPr>
      </p:pic>
      <p:sp>
        <p:nvSpPr>
          <p:cNvPr id="14" name="Text 11"/>
          <p:cNvSpPr/>
          <p:nvPr/>
        </p:nvSpPr>
        <p:spPr>
          <a:xfrm>
            <a:off x="1644253" y="5307092"/>
            <a:ext cx="3308152" cy="708660"/>
          </a:xfrm>
          <a:prstGeom prst="rect">
            <a:avLst/>
          </a:prstGeom>
          <a:noFill/>
          <a:ln/>
        </p:spPr>
        <p:txBody>
          <a:bodyPr wrap="squar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Multi-Dimensional Scoring</a:t>
            </a:r>
            <a:endParaRPr lang="en-US" sz="2200" dirty="0"/>
          </a:p>
        </p:txBody>
      </p:sp>
      <p:sp>
        <p:nvSpPr>
          <p:cNvPr id="15" name="Text 12"/>
          <p:cNvSpPr/>
          <p:nvPr/>
        </p:nvSpPr>
        <p:spPr>
          <a:xfrm>
            <a:off x="1644253" y="6151840"/>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Comprehensive evaluation combining semantic similarity with structured analysis</a:t>
            </a:r>
            <a:endParaRPr lang="en-US" sz="1750" dirty="0"/>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5172432"/>
            <a:ext cx="566976" cy="566976"/>
          </a:xfrm>
          <a:prstGeom prst="rect">
            <a:avLst/>
          </a:prstGeom>
        </p:spPr>
      </p:pic>
      <p:sp>
        <p:nvSpPr>
          <p:cNvPr id="17" name="Text 13"/>
          <p:cNvSpPr/>
          <p:nvPr/>
        </p:nvSpPr>
        <p:spPr>
          <a:xfrm>
            <a:off x="6086356" y="5307092"/>
            <a:ext cx="3308152" cy="708660"/>
          </a:xfrm>
          <a:prstGeom prst="rect">
            <a:avLst/>
          </a:prstGeom>
          <a:noFill/>
          <a:ln/>
        </p:spPr>
        <p:txBody>
          <a:bodyPr wrap="squar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Human-Readable Explanations</a:t>
            </a:r>
            <a:endParaRPr lang="en-US" sz="2200" dirty="0"/>
          </a:p>
        </p:txBody>
      </p:sp>
      <p:sp>
        <p:nvSpPr>
          <p:cNvPr id="18" name="Text 14"/>
          <p:cNvSpPr/>
          <p:nvPr/>
        </p:nvSpPr>
        <p:spPr>
          <a:xfrm>
            <a:off x="6086356" y="6151840"/>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AI-generated insights that hiring managers can understand and act upon</a:t>
            </a:r>
            <a:endParaRPr lang="en-US" sz="1750" dirty="0"/>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5172432"/>
            <a:ext cx="566976" cy="566976"/>
          </a:xfrm>
          <a:prstGeom prst="rect">
            <a:avLst/>
          </a:prstGeom>
        </p:spPr>
      </p:pic>
      <p:sp>
        <p:nvSpPr>
          <p:cNvPr id="20" name="Text 15"/>
          <p:cNvSpPr/>
          <p:nvPr/>
        </p:nvSpPr>
        <p:spPr>
          <a:xfrm>
            <a:off x="10528459" y="53070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Interactive UI</a:t>
            </a:r>
            <a:endParaRPr lang="en-US" sz="2200" dirty="0"/>
          </a:p>
        </p:txBody>
      </p:sp>
      <p:sp>
        <p:nvSpPr>
          <p:cNvPr id="21" name="Text 16"/>
          <p:cNvSpPr/>
          <p:nvPr/>
        </p:nvSpPr>
        <p:spPr>
          <a:xfrm>
            <a:off x="10528459" y="5797510"/>
            <a:ext cx="3308152" cy="1088708"/>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Real-time candidate-job matching with intuitive Streamlit interface</a:t>
            </a:r>
            <a:endParaRPr lang="en-US" sz="1750" dirty="0"/>
          </a:p>
        </p:txBody>
      </p:sp>
      <p:sp>
        <p:nvSpPr>
          <p:cNvPr id="22" name="Rectangle 21">
            <a:extLst>
              <a:ext uri="{FF2B5EF4-FFF2-40B4-BE49-F238E27FC236}">
                <a16:creationId xmlns:a16="http://schemas.microsoft.com/office/drawing/2014/main" id="{482F0B18-15F2-4313-251C-03AFC6DFEADB}"/>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96290"/>
            <a:ext cx="6002060"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Live Demo Workflow</a:t>
            </a:r>
            <a:endParaRPr lang="en-US" sz="4450" dirty="0"/>
          </a:p>
        </p:txBody>
      </p:sp>
      <p:sp>
        <p:nvSpPr>
          <p:cNvPr id="3" name="Text 1"/>
          <p:cNvSpPr/>
          <p:nvPr/>
        </p:nvSpPr>
        <p:spPr>
          <a:xfrm>
            <a:off x="793790" y="195869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01</a:t>
            </a:r>
            <a:endParaRPr lang="en-US" sz="1750" dirty="0"/>
          </a:p>
        </p:txBody>
      </p:sp>
      <p:sp>
        <p:nvSpPr>
          <p:cNvPr id="4" name="Shape 2"/>
          <p:cNvSpPr/>
          <p:nvPr/>
        </p:nvSpPr>
        <p:spPr>
          <a:xfrm>
            <a:off x="793790" y="2313742"/>
            <a:ext cx="6407944" cy="30480"/>
          </a:xfrm>
          <a:prstGeom prst="rect">
            <a:avLst/>
          </a:prstGeom>
          <a:solidFill>
            <a:srgbClr val="006747"/>
          </a:solidFill>
          <a:ln/>
        </p:spPr>
      </p:sp>
      <p:sp>
        <p:nvSpPr>
          <p:cNvPr id="5" name="Text 3"/>
          <p:cNvSpPr/>
          <p:nvPr/>
        </p:nvSpPr>
        <p:spPr>
          <a:xfrm>
            <a:off x="793790" y="24880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Upload Documents</a:t>
            </a:r>
            <a:endParaRPr lang="en-US" sz="2200" dirty="0"/>
          </a:p>
        </p:txBody>
      </p:sp>
      <p:sp>
        <p:nvSpPr>
          <p:cNvPr id="6" name="Text 4"/>
          <p:cNvSpPr/>
          <p:nvPr/>
        </p:nvSpPr>
        <p:spPr>
          <a:xfrm>
            <a:off x="793790" y="297846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Add sample resumes and job descriptions to the system</a:t>
            </a:r>
            <a:endParaRPr lang="en-US" sz="1750" dirty="0"/>
          </a:p>
        </p:txBody>
      </p:sp>
      <p:sp>
        <p:nvSpPr>
          <p:cNvPr id="7" name="Text 5"/>
          <p:cNvSpPr/>
          <p:nvPr/>
        </p:nvSpPr>
        <p:spPr>
          <a:xfrm>
            <a:off x="7428548" y="195869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02</a:t>
            </a:r>
            <a:endParaRPr lang="en-US" sz="1750" dirty="0"/>
          </a:p>
        </p:txBody>
      </p:sp>
      <p:sp>
        <p:nvSpPr>
          <p:cNvPr id="8" name="Shape 6"/>
          <p:cNvSpPr/>
          <p:nvPr/>
        </p:nvSpPr>
        <p:spPr>
          <a:xfrm>
            <a:off x="7428548" y="2313742"/>
            <a:ext cx="6408063" cy="30480"/>
          </a:xfrm>
          <a:prstGeom prst="rect">
            <a:avLst/>
          </a:prstGeom>
          <a:solidFill>
            <a:srgbClr val="006747"/>
          </a:solidFill>
          <a:ln/>
        </p:spPr>
      </p:sp>
      <p:sp>
        <p:nvSpPr>
          <p:cNvPr id="9" name="Text 7"/>
          <p:cNvSpPr/>
          <p:nvPr/>
        </p:nvSpPr>
        <p:spPr>
          <a:xfrm>
            <a:off x="7428548" y="24880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Select Provider</a:t>
            </a:r>
            <a:endParaRPr lang="en-US" sz="2200" dirty="0"/>
          </a:p>
        </p:txBody>
      </p:sp>
      <p:sp>
        <p:nvSpPr>
          <p:cNvPr id="10" name="Text 8"/>
          <p:cNvSpPr/>
          <p:nvPr/>
        </p:nvSpPr>
        <p:spPr>
          <a:xfrm>
            <a:off x="7428548" y="2978468"/>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Choose embedding provider: SentenceTransformers, Ollama, or Google Vertex AI</a:t>
            </a:r>
            <a:endParaRPr lang="en-US" sz="1750" dirty="0"/>
          </a:p>
        </p:txBody>
      </p:sp>
      <p:sp>
        <p:nvSpPr>
          <p:cNvPr id="11" name="Text 9"/>
          <p:cNvSpPr/>
          <p:nvPr/>
        </p:nvSpPr>
        <p:spPr>
          <a:xfrm>
            <a:off x="793790" y="410110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03</a:t>
            </a:r>
            <a:endParaRPr lang="en-US" sz="1750" dirty="0"/>
          </a:p>
        </p:txBody>
      </p:sp>
      <p:sp>
        <p:nvSpPr>
          <p:cNvPr id="12" name="Shape 10"/>
          <p:cNvSpPr/>
          <p:nvPr/>
        </p:nvSpPr>
        <p:spPr>
          <a:xfrm>
            <a:off x="793790" y="4456152"/>
            <a:ext cx="6407944" cy="30480"/>
          </a:xfrm>
          <a:prstGeom prst="rect">
            <a:avLst/>
          </a:prstGeom>
          <a:solidFill>
            <a:srgbClr val="006747"/>
          </a:solidFill>
          <a:ln/>
        </p:spPr>
      </p:sp>
      <p:sp>
        <p:nvSpPr>
          <p:cNvPr id="13" name="Text 11"/>
          <p:cNvSpPr/>
          <p:nvPr/>
        </p:nvSpPr>
        <p:spPr>
          <a:xfrm>
            <a:off x="793790" y="46304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View Parsed Data</a:t>
            </a:r>
            <a:endParaRPr lang="en-US" sz="2200" dirty="0"/>
          </a:p>
        </p:txBody>
      </p:sp>
      <p:sp>
        <p:nvSpPr>
          <p:cNvPr id="14" name="Text 12"/>
          <p:cNvSpPr/>
          <p:nvPr/>
        </p:nvSpPr>
        <p:spPr>
          <a:xfrm>
            <a:off x="793790" y="512087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Explore extracted fields from resumes and job descriptions</a:t>
            </a:r>
            <a:endParaRPr lang="en-US" sz="1750" dirty="0"/>
          </a:p>
        </p:txBody>
      </p:sp>
      <p:sp>
        <p:nvSpPr>
          <p:cNvPr id="15" name="Text 13"/>
          <p:cNvSpPr/>
          <p:nvPr/>
        </p:nvSpPr>
        <p:spPr>
          <a:xfrm>
            <a:off x="7428548" y="410110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04</a:t>
            </a:r>
            <a:endParaRPr lang="en-US" sz="1750" dirty="0"/>
          </a:p>
        </p:txBody>
      </p:sp>
      <p:sp>
        <p:nvSpPr>
          <p:cNvPr id="16" name="Shape 14"/>
          <p:cNvSpPr/>
          <p:nvPr/>
        </p:nvSpPr>
        <p:spPr>
          <a:xfrm>
            <a:off x="7428548" y="4456152"/>
            <a:ext cx="6408063" cy="30480"/>
          </a:xfrm>
          <a:prstGeom prst="rect">
            <a:avLst/>
          </a:prstGeom>
          <a:solidFill>
            <a:srgbClr val="006747"/>
          </a:solidFill>
          <a:ln/>
        </p:spPr>
      </p:sp>
      <p:sp>
        <p:nvSpPr>
          <p:cNvPr id="17" name="Text 15"/>
          <p:cNvSpPr/>
          <p:nvPr/>
        </p:nvSpPr>
        <p:spPr>
          <a:xfrm>
            <a:off x="7428548" y="46304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Run Matching</a:t>
            </a:r>
            <a:endParaRPr lang="en-US" sz="2200" dirty="0"/>
          </a:p>
        </p:txBody>
      </p:sp>
      <p:sp>
        <p:nvSpPr>
          <p:cNvPr id="18" name="Text 16"/>
          <p:cNvSpPr/>
          <p:nvPr/>
        </p:nvSpPr>
        <p:spPr>
          <a:xfrm>
            <a:off x="7428548" y="5120878"/>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Execute AI-powered matching algorithm</a:t>
            </a:r>
            <a:endParaRPr lang="en-US" sz="1750" dirty="0"/>
          </a:p>
        </p:txBody>
      </p:sp>
      <p:sp>
        <p:nvSpPr>
          <p:cNvPr id="19" name="Text 17"/>
          <p:cNvSpPr/>
          <p:nvPr/>
        </p:nvSpPr>
        <p:spPr>
          <a:xfrm>
            <a:off x="793790" y="58806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05</a:t>
            </a:r>
            <a:endParaRPr lang="en-US" sz="1750" dirty="0"/>
          </a:p>
        </p:txBody>
      </p:sp>
      <p:sp>
        <p:nvSpPr>
          <p:cNvPr id="20" name="Shape 18"/>
          <p:cNvSpPr/>
          <p:nvPr/>
        </p:nvSpPr>
        <p:spPr>
          <a:xfrm>
            <a:off x="793790" y="6235660"/>
            <a:ext cx="6407944" cy="30480"/>
          </a:xfrm>
          <a:prstGeom prst="rect">
            <a:avLst/>
          </a:prstGeom>
          <a:solidFill>
            <a:srgbClr val="006747"/>
          </a:solidFill>
          <a:ln/>
        </p:spPr>
      </p:sp>
      <p:sp>
        <p:nvSpPr>
          <p:cNvPr id="21" name="Text 19"/>
          <p:cNvSpPr/>
          <p:nvPr/>
        </p:nvSpPr>
        <p:spPr>
          <a:xfrm>
            <a:off x="793790" y="64099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Explore Scores</a:t>
            </a:r>
            <a:endParaRPr lang="en-US" sz="2200" dirty="0"/>
          </a:p>
        </p:txBody>
      </p:sp>
      <p:sp>
        <p:nvSpPr>
          <p:cNvPr id="22" name="Text 20"/>
          <p:cNvSpPr/>
          <p:nvPr/>
        </p:nvSpPr>
        <p:spPr>
          <a:xfrm>
            <a:off x="793790" y="6900386"/>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Review match scores with detailed component breakdown</a:t>
            </a:r>
            <a:endParaRPr lang="en-US" sz="1750" dirty="0"/>
          </a:p>
        </p:txBody>
      </p:sp>
      <p:sp>
        <p:nvSpPr>
          <p:cNvPr id="23" name="Text 21"/>
          <p:cNvSpPr/>
          <p:nvPr/>
        </p:nvSpPr>
        <p:spPr>
          <a:xfrm>
            <a:off x="7428548" y="5880616"/>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Noto Serif SC Light" pitchFamily="34" charset="0"/>
                <a:ea typeface="Noto Serif SC Light" pitchFamily="34" charset="-122"/>
                <a:cs typeface="Noto Serif SC Light" pitchFamily="34" charset="-120"/>
              </a:rPr>
              <a:t>06</a:t>
            </a:r>
            <a:endParaRPr lang="en-US" sz="1750" dirty="0"/>
          </a:p>
        </p:txBody>
      </p:sp>
      <p:sp>
        <p:nvSpPr>
          <p:cNvPr id="24" name="Shape 22"/>
          <p:cNvSpPr/>
          <p:nvPr/>
        </p:nvSpPr>
        <p:spPr>
          <a:xfrm>
            <a:off x="7428548" y="6235660"/>
            <a:ext cx="6408063" cy="30480"/>
          </a:xfrm>
          <a:prstGeom prst="rect">
            <a:avLst/>
          </a:prstGeom>
          <a:solidFill>
            <a:srgbClr val="006747"/>
          </a:solidFill>
          <a:ln/>
        </p:spPr>
      </p:sp>
      <p:sp>
        <p:nvSpPr>
          <p:cNvPr id="25" name="Text 23"/>
          <p:cNvSpPr/>
          <p:nvPr/>
        </p:nvSpPr>
        <p:spPr>
          <a:xfrm>
            <a:off x="7428548" y="6409968"/>
            <a:ext cx="3265646" cy="354330"/>
          </a:xfrm>
          <a:prstGeom prst="rect">
            <a:avLst/>
          </a:prstGeom>
          <a:noFill/>
          <a:ln/>
        </p:spPr>
        <p:txBody>
          <a:bodyPr wrap="none" lIns="0" tIns="0" rIns="0" bIns="0" rtlCol="0" anchor="t"/>
          <a:lstStyle/>
          <a:p>
            <a:pPr marL="0" indent="0" algn="l">
              <a:lnSpc>
                <a:spcPts val="2750"/>
              </a:lnSpc>
              <a:buNone/>
            </a:pPr>
            <a:r>
              <a:rPr lang="en-US" sz="2200" b="1" dirty="0">
                <a:solidFill>
                  <a:srgbClr val="4B4A4A"/>
                </a:solidFill>
                <a:latin typeface="Noto Serif SC Bold" pitchFamily="34" charset="0"/>
                <a:ea typeface="Noto Serif SC Bold" pitchFamily="34" charset="-122"/>
                <a:cs typeface="Noto Serif SC Bold" pitchFamily="34" charset="-120"/>
              </a:rPr>
              <a:t>Generate Explanations</a:t>
            </a:r>
            <a:endParaRPr lang="en-US" sz="2200" dirty="0"/>
          </a:p>
        </p:txBody>
      </p:sp>
      <p:sp>
        <p:nvSpPr>
          <p:cNvPr id="26" name="Text 24"/>
          <p:cNvSpPr/>
          <p:nvPr/>
        </p:nvSpPr>
        <p:spPr>
          <a:xfrm>
            <a:off x="7428548" y="6900386"/>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4B4A4A"/>
                </a:solidFill>
                <a:latin typeface="Geist" pitchFamily="34" charset="0"/>
                <a:ea typeface="Geist" pitchFamily="34" charset="-122"/>
                <a:cs typeface="Geist" pitchFamily="34" charset="-120"/>
              </a:rPr>
              <a:t>Create detailed AI explanations for each candidate match</a:t>
            </a:r>
            <a:endParaRPr lang="en-US" sz="1750" dirty="0"/>
          </a:p>
        </p:txBody>
      </p:sp>
      <p:sp>
        <p:nvSpPr>
          <p:cNvPr id="27" name="Rectangle 26">
            <a:extLst>
              <a:ext uri="{FF2B5EF4-FFF2-40B4-BE49-F238E27FC236}">
                <a16:creationId xmlns:a16="http://schemas.microsoft.com/office/drawing/2014/main" id="{CFC10CC2-F12F-B48A-F3A0-A31EA372F297}"/>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637937"/>
            <a:ext cx="1029414" cy="398978"/>
          </a:xfrm>
          <a:prstGeom prst="roundRect">
            <a:avLst>
              <a:gd name="adj" fmla="val 36840"/>
            </a:avLst>
          </a:prstGeom>
          <a:noFill/>
          <a:ln w="7620">
            <a:solidFill>
              <a:srgbClr val="006747"/>
            </a:solidFill>
            <a:prstDash val="solid"/>
          </a:ln>
        </p:spPr>
      </p:sp>
      <p:sp>
        <p:nvSpPr>
          <p:cNvPr id="3" name="Text 1"/>
          <p:cNvSpPr/>
          <p:nvPr/>
        </p:nvSpPr>
        <p:spPr>
          <a:xfrm>
            <a:off x="923806" y="706755"/>
            <a:ext cx="769382" cy="261342"/>
          </a:xfrm>
          <a:prstGeom prst="rect">
            <a:avLst/>
          </a:prstGeom>
          <a:noFill/>
          <a:ln/>
        </p:spPr>
        <p:txBody>
          <a:bodyPr wrap="none" lIns="0" tIns="0" rIns="0" bIns="0" rtlCol="0" anchor="t"/>
          <a:lstStyle/>
          <a:p>
            <a:pPr marL="0" indent="0" algn="l">
              <a:lnSpc>
                <a:spcPts val="2050"/>
              </a:lnSpc>
              <a:buNone/>
            </a:pPr>
            <a:r>
              <a:rPr lang="en-US" sz="1250" dirty="0">
                <a:solidFill>
                  <a:srgbClr val="335E23"/>
                </a:solidFill>
                <a:latin typeface="Geist" pitchFamily="34" charset="0"/>
                <a:ea typeface="Geist" pitchFamily="34" charset="-122"/>
                <a:cs typeface="Geist" pitchFamily="34" charset="-120"/>
              </a:rPr>
              <a:t>USE CASE</a:t>
            </a:r>
            <a:endParaRPr lang="en-US" sz="1250" dirty="0"/>
          </a:p>
        </p:txBody>
      </p:sp>
      <p:sp>
        <p:nvSpPr>
          <p:cNvPr id="4" name="Text 2"/>
          <p:cNvSpPr/>
          <p:nvPr/>
        </p:nvSpPr>
        <p:spPr>
          <a:xfrm>
            <a:off x="793790" y="1118473"/>
            <a:ext cx="9776936" cy="637937"/>
          </a:xfrm>
          <a:prstGeom prst="rect">
            <a:avLst/>
          </a:prstGeom>
          <a:noFill/>
          <a:ln/>
        </p:spPr>
        <p:txBody>
          <a:bodyPr wrap="none" lIns="0" tIns="0" rIns="0" bIns="0" rtlCol="0" anchor="t"/>
          <a:lstStyle/>
          <a:p>
            <a:pPr marL="0" indent="0" algn="l">
              <a:lnSpc>
                <a:spcPts val="5000"/>
              </a:lnSpc>
              <a:buNone/>
            </a:pPr>
            <a:r>
              <a:rPr lang="en-US" sz="4000" b="1" dirty="0">
                <a:solidFill>
                  <a:srgbClr val="006747"/>
                </a:solidFill>
                <a:latin typeface="Noto Serif SC Bold" pitchFamily="34" charset="0"/>
                <a:ea typeface="Noto Serif SC Bold" pitchFamily="34" charset="-122"/>
                <a:cs typeface="Noto Serif SC Bold" pitchFamily="34" charset="-120"/>
              </a:rPr>
              <a:t>Sample Scenario: Senior ML Engineer</a:t>
            </a:r>
            <a:endParaRPr lang="en-US" sz="4000" dirty="0"/>
          </a:p>
        </p:txBody>
      </p:sp>
      <p:sp>
        <p:nvSpPr>
          <p:cNvPr id="5" name="Shape 3"/>
          <p:cNvSpPr/>
          <p:nvPr/>
        </p:nvSpPr>
        <p:spPr>
          <a:xfrm>
            <a:off x="793790" y="3973711"/>
            <a:ext cx="13042821" cy="22860"/>
          </a:xfrm>
          <a:prstGeom prst="roundRect">
            <a:avLst>
              <a:gd name="adj" fmla="val 803720"/>
            </a:avLst>
          </a:prstGeom>
          <a:solidFill>
            <a:srgbClr val="B7D5CA"/>
          </a:solidFill>
          <a:ln/>
        </p:spPr>
      </p:sp>
      <p:sp>
        <p:nvSpPr>
          <p:cNvPr id="6" name="Shape 4"/>
          <p:cNvSpPr/>
          <p:nvPr/>
        </p:nvSpPr>
        <p:spPr>
          <a:xfrm>
            <a:off x="3979069" y="3361432"/>
            <a:ext cx="22860" cy="612338"/>
          </a:xfrm>
          <a:prstGeom prst="roundRect">
            <a:avLst>
              <a:gd name="adj" fmla="val 803720"/>
            </a:avLst>
          </a:prstGeom>
          <a:solidFill>
            <a:srgbClr val="B7D5CA"/>
          </a:solidFill>
          <a:ln/>
        </p:spPr>
      </p:sp>
      <p:sp>
        <p:nvSpPr>
          <p:cNvPr id="7" name="Shape 5"/>
          <p:cNvSpPr/>
          <p:nvPr/>
        </p:nvSpPr>
        <p:spPr>
          <a:xfrm>
            <a:off x="3760946" y="3744099"/>
            <a:ext cx="459224" cy="459224"/>
          </a:xfrm>
          <a:prstGeom prst="roundRect">
            <a:avLst>
              <a:gd name="adj" fmla="val 40009"/>
            </a:avLst>
          </a:prstGeom>
          <a:solidFill>
            <a:srgbClr val="D1EFE4"/>
          </a:solidFill>
          <a:ln w="7620">
            <a:solidFill>
              <a:srgbClr val="B7D5CA"/>
            </a:solidFill>
            <a:prstDash val="solid"/>
          </a:ln>
        </p:spPr>
      </p:sp>
      <p:sp>
        <p:nvSpPr>
          <p:cNvPr id="8" name="Text 6"/>
          <p:cNvSpPr/>
          <p:nvPr/>
        </p:nvSpPr>
        <p:spPr>
          <a:xfrm>
            <a:off x="3837444" y="3782318"/>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4B4A4A"/>
                </a:solidFill>
                <a:latin typeface="Noto Serif SC Bold" pitchFamily="34" charset="0"/>
                <a:ea typeface="Noto Serif SC Bold" pitchFamily="34" charset="-122"/>
                <a:cs typeface="Noto Serif SC Bold" pitchFamily="34" charset="-120"/>
              </a:rPr>
              <a:t>1</a:t>
            </a:r>
            <a:endParaRPr lang="en-US" sz="2400" dirty="0"/>
          </a:p>
        </p:txBody>
      </p:sp>
      <p:sp>
        <p:nvSpPr>
          <p:cNvPr id="9" name="Text 7"/>
          <p:cNvSpPr/>
          <p:nvPr/>
        </p:nvSpPr>
        <p:spPr>
          <a:xfrm>
            <a:off x="2714744" y="2062520"/>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Input</a:t>
            </a:r>
            <a:endParaRPr lang="en-US" sz="2000" dirty="0"/>
          </a:p>
        </p:txBody>
      </p:sp>
      <p:sp>
        <p:nvSpPr>
          <p:cNvPr id="10" name="Text 8"/>
          <p:cNvSpPr/>
          <p:nvPr/>
        </p:nvSpPr>
        <p:spPr>
          <a:xfrm>
            <a:off x="997863" y="2503765"/>
            <a:ext cx="5985629" cy="653415"/>
          </a:xfrm>
          <a:prstGeom prst="rect">
            <a:avLst/>
          </a:prstGeom>
          <a:noFill/>
          <a:ln/>
        </p:spPr>
        <p:txBody>
          <a:bodyPr wrap="square" lIns="0" tIns="0" rIns="0" bIns="0" rtlCol="0" anchor="t"/>
          <a:lstStyle/>
          <a:p>
            <a:pPr marL="0" indent="0" algn="ctr">
              <a:lnSpc>
                <a:spcPts val="2550"/>
              </a:lnSpc>
              <a:buNone/>
            </a:pPr>
            <a:r>
              <a:rPr lang="en-US" sz="1600" dirty="0">
                <a:solidFill>
                  <a:srgbClr val="4B4A4A"/>
                </a:solidFill>
                <a:latin typeface="Geist" pitchFamily="34" charset="0"/>
                <a:ea typeface="Geist" pitchFamily="34" charset="-122"/>
                <a:cs typeface="Geist" pitchFamily="34" charset="-120"/>
              </a:rPr>
              <a:t>3 sample resumes: Data Scientist, Software Engineer, Marketing Analyst</a:t>
            </a:r>
            <a:endParaRPr lang="en-US" sz="1600" dirty="0"/>
          </a:p>
        </p:txBody>
      </p:sp>
      <p:sp>
        <p:nvSpPr>
          <p:cNvPr id="11" name="Shape 9"/>
          <p:cNvSpPr/>
          <p:nvPr/>
        </p:nvSpPr>
        <p:spPr>
          <a:xfrm>
            <a:off x="7303532" y="3973651"/>
            <a:ext cx="22860" cy="612338"/>
          </a:xfrm>
          <a:prstGeom prst="roundRect">
            <a:avLst>
              <a:gd name="adj" fmla="val 803720"/>
            </a:avLst>
          </a:prstGeom>
          <a:solidFill>
            <a:srgbClr val="B7D5CA"/>
          </a:solidFill>
          <a:ln/>
        </p:spPr>
      </p:sp>
      <p:sp>
        <p:nvSpPr>
          <p:cNvPr id="12" name="Shape 10"/>
          <p:cNvSpPr/>
          <p:nvPr/>
        </p:nvSpPr>
        <p:spPr>
          <a:xfrm>
            <a:off x="7085409" y="3744099"/>
            <a:ext cx="459224" cy="459224"/>
          </a:xfrm>
          <a:prstGeom prst="roundRect">
            <a:avLst>
              <a:gd name="adj" fmla="val 40009"/>
            </a:avLst>
          </a:prstGeom>
          <a:solidFill>
            <a:srgbClr val="D1EFE4"/>
          </a:solidFill>
          <a:ln w="7620">
            <a:solidFill>
              <a:srgbClr val="B7D5CA"/>
            </a:solidFill>
            <a:prstDash val="solid"/>
          </a:ln>
        </p:spPr>
      </p:sp>
      <p:sp>
        <p:nvSpPr>
          <p:cNvPr id="13" name="Text 11"/>
          <p:cNvSpPr/>
          <p:nvPr/>
        </p:nvSpPr>
        <p:spPr>
          <a:xfrm>
            <a:off x="7161907" y="3782318"/>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4B4A4A"/>
                </a:solidFill>
                <a:latin typeface="Noto Serif SC Bold" pitchFamily="34" charset="0"/>
                <a:ea typeface="Noto Serif SC Bold" pitchFamily="34" charset="-122"/>
                <a:cs typeface="Noto Serif SC Bold" pitchFamily="34" charset="-120"/>
              </a:rPr>
              <a:t>2</a:t>
            </a:r>
            <a:endParaRPr lang="en-US" sz="2400" dirty="0"/>
          </a:p>
        </p:txBody>
      </p:sp>
      <p:sp>
        <p:nvSpPr>
          <p:cNvPr id="14" name="Text 12"/>
          <p:cNvSpPr/>
          <p:nvPr/>
        </p:nvSpPr>
        <p:spPr>
          <a:xfrm>
            <a:off x="6039207" y="4790242"/>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Process</a:t>
            </a:r>
            <a:endParaRPr lang="en-US" sz="2000" dirty="0"/>
          </a:p>
        </p:txBody>
      </p:sp>
      <p:sp>
        <p:nvSpPr>
          <p:cNvPr id="15" name="Text 13"/>
          <p:cNvSpPr/>
          <p:nvPr/>
        </p:nvSpPr>
        <p:spPr>
          <a:xfrm>
            <a:off x="4322326" y="5231487"/>
            <a:ext cx="5985629" cy="653415"/>
          </a:xfrm>
          <a:prstGeom prst="rect">
            <a:avLst/>
          </a:prstGeom>
          <a:noFill/>
          <a:ln/>
        </p:spPr>
        <p:txBody>
          <a:bodyPr wrap="square" lIns="0" tIns="0" rIns="0" bIns="0" rtlCol="0" anchor="t"/>
          <a:lstStyle/>
          <a:p>
            <a:pPr marL="0" indent="0" algn="ctr">
              <a:lnSpc>
                <a:spcPts val="2550"/>
              </a:lnSpc>
              <a:buNone/>
            </a:pPr>
            <a:r>
              <a:rPr lang="en-US" sz="1600" dirty="0">
                <a:solidFill>
                  <a:srgbClr val="4B4A4A"/>
                </a:solidFill>
                <a:latin typeface="Geist" pitchFamily="34" charset="0"/>
                <a:ea typeface="Geist" pitchFamily="34" charset="-122"/>
                <a:cs typeface="Geist" pitchFamily="34" charset="-120"/>
              </a:rPr>
              <a:t>System parses documents, generates embeddings, computes comprehensive matches</a:t>
            </a:r>
            <a:endParaRPr lang="en-US" sz="1600" dirty="0"/>
          </a:p>
        </p:txBody>
      </p:sp>
      <p:sp>
        <p:nvSpPr>
          <p:cNvPr id="16" name="Shape 14"/>
          <p:cNvSpPr/>
          <p:nvPr/>
        </p:nvSpPr>
        <p:spPr>
          <a:xfrm>
            <a:off x="10628114" y="3361432"/>
            <a:ext cx="22860" cy="612338"/>
          </a:xfrm>
          <a:prstGeom prst="roundRect">
            <a:avLst>
              <a:gd name="adj" fmla="val 803720"/>
            </a:avLst>
          </a:prstGeom>
          <a:solidFill>
            <a:srgbClr val="B7D5CA"/>
          </a:solidFill>
          <a:ln/>
        </p:spPr>
      </p:sp>
      <p:sp>
        <p:nvSpPr>
          <p:cNvPr id="17" name="Shape 15"/>
          <p:cNvSpPr/>
          <p:nvPr/>
        </p:nvSpPr>
        <p:spPr>
          <a:xfrm>
            <a:off x="10409992" y="3744099"/>
            <a:ext cx="459224" cy="459224"/>
          </a:xfrm>
          <a:prstGeom prst="roundRect">
            <a:avLst>
              <a:gd name="adj" fmla="val 40009"/>
            </a:avLst>
          </a:prstGeom>
          <a:solidFill>
            <a:srgbClr val="D1EFE4"/>
          </a:solidFill>
          <a:ln w="7620">
            <a:solidFill>
              <a:srgbClr val="B7D5CA"/>
            </a:solidFill>
            <a:prstDash val="solid"/>
          </a:ln>
        </p:spPr>
      </p:sp>
      <p:sp>
        <p:nvSpPr>
          <p:cNvPr id="18" name="Text 16"/>
          <p:cNvSpPr/>
          <p:nvPr/>
        </p:nvSpPr>
        <p:spPr>
          <a:xfrm>
            <a:off x="10486489" y="3782318"/>
            <a:ext cx="306110" cy="382667"/>
          </a:xfrm>
          <a:prstGeom prst="rect">
            <a:avLst/>
          </a:prstGeom>
          <a:noFill/>
          <a:ln/>
        </p:spPr>
        <p:txBody>
          <a:bodyPr wrap="none" lIns="0" tIns="0" rIns="0" bIns="0" rtlCol="0" anchor="t"/>
          <a:lstStyle/>
          <a:p>
            <a:pPr marL="0" indent="0" algn="ctr">
              <a:lnSpc>
                <a:spcPts val="2400"/>
              </a:lnSpc>
              <a:buNone/>
            </a:pPr>
            <a:r>
              <a:rPr lang="en-US" sz="2400" b="1" dirty="0">
                <a:solidFill>
                  <a:srgbClr val="4B4A4A"/>
                </a:solidFill>
                <a:latin typeface="Noto Serif SC Bold" pitchFamily="34" charset="0"/>
                <a:ea typeface="Noto Serif SC Bold" pitchFamily="34" charset="-122"/>
                <a:cs typeface="Noto Serif SC Bold" pitchFamily="34" charset="-120"/>
              </a:rPr>
              <a:t>3</a:t>
            </a:r>
            <a:endParaRPr lang="en-US" sz="2400" dirty="0"/>
          </a:p>
        </p:txBody>
      </p:sp>
      <p:sp>
        <p:nvSpPr>
          <p:cNvPr id="19" name="Text 17"/>
          <p:cNvSpPr/>
          <p:nvPr/>
        </p:nvSpPr>
        <p:spPr>
          <a:xfrm>
            <a:off x="9363789" y="2062520"/>
            <a:ext cx="2551748" cy="318849"/>
          </a:xfrm>
          <a:prstGeom prst="rect">
            <a:avLst/>
          </a:prstGeom>
          <a:noFill/>
          <a:ln/>
        </p:spPr>
        <p:txBody>
          <a:bodyPr wrap="none" lIns="0" tIns="0" rIns="0" bIns="0" rtlCol="0" anchor="t"/>
          <a:lstStyle/>
          <a:p>
            <a:pPr marL="0" indent="0" algn="ctr">
              <a:lnSpc>
                <a:spcPts val="2500"/>
              </a:lnSpc>
              <a:buNone/>
            </a:pPr>
            <a:r>
              <a:rPr lang="en-US" sz="2000" b="1" dirty="0">
                <a:solidFill>
                  <a:srgbClr val="4B4A4A"/>
                </a:solidFill>
                <a:latin typeface="Noto Serif SC Bold" pitchFamily="34" charset="0"/>
                <a:ea typeface="Noto Serif SC Bold" pitchFamily="34" charset="-122"/>
                <a:cs typeface="Noto Serif SC Bold" pitchFamily="34" charset="-120"/>
              </a:rPr>
              <a:t>Output</a:t>
            </a:r>
            <a:endParaRPr lang="en-US" sz="2000" dirty="0"/>
          </a:p>
        </p:txBody>
      </p:sp>
      <p:sp>
        <p:nvSpPr>
          <p:cNvPr id="20" name="Text 18"/>
          <p:cNvSpPr/>
          <p:nvPr/>
        </p:nvSpPr>
        <p:spPr>
          <a:xfrm>
            <a:off x="7646789" y="2503765"/>
            <a:ext cx="5985748" cy="653415"/>
          </a:xfrm>
          <a:prstGeom prst="rect">
            <a:avLst/>
          </a:prstGeom>
          <a:noFill/>
          <a:ln/>
        </p:spPr>
        <p:txBody>
          <a:bodyPr wrap="square" lIns="0" tIns="0" rIns="0" bIns="0" rtlCol="0" anchor="t"/>
          <a:lstStyle/>
          <a:p>
            <a:pPr marL="0" indent="0" algn="ctr">
              <a:lnSpc>
                <a:spcPts val="2550"/>
              </a:lnSpc>
              <a:buNone/>
            </a:pPr>
            <a:r>
              <a:rPr lang="en-US" sz="1600" dirty="0">
                <a:solidFill>
                  <a:srgbClr val="4B4A4A"/>
                </a:solidFill>
                <a:latin typeface="Geist" pitchFamily="34" charset="0"/>
                <a:ea typeface="Geist" pitchFamily="34" charset="-122"/>
                <a:cs typeface="Geist" pitchFamily="34" charset="-120"/>
              </a:rPr>
              <a:t>Ranked list with detailed explanations showing Data Scientist resume as best match</a:t>
            </a:r>
            <a:endParaRPr lang="en-US" sz="1600" dirty="0"/>
          </a:p>
        </p:txBody>
      </p:sp>
      <p:sp>
        <p:nvSpPr>
          <p:cNvPr id="21" name="Shape 19"/>
          <p:cNvSpPr/>
          <p:nvPr/>
        </p:nvSpPr>
        <p:spPr>
          <a:xfrm>
            <a:off x="793790" y="6216450"/>
            <a:ext cx="13042821" cy="33099"/>
          </a:xfrm>
          <a:prstGeom prst="rect">
            <a:avLst/>
          </a:prstGeom>
          <a:solidFill>
            <a:srgbClr val="4B4A4A">
              <a:alpha val="50000"/>
            </a:srgbClr>
          </a:solidFill>
          <a:ln/>
        </p:spPr>
      </p:sp>
      <p:sp>
        <p:nvSpPr>
          <p:cNvPr id="22" name="Text 20"/>
          <p:cNvSpPr/>
          <p:nvPr/>
        </p:nvSpPr>
        <p:spPr>
          <a:xfrm>
            <a:off x="1099899" y="6708577"/>
            <a:ext cx="12736711" cy="653415"/>
          </a:xfrm>
          <a:prstGeom prst="rect">
            <a:avLst/>
          </a:prstGeom>
          <a:noFill/>
          <a:ln/>
        </p:spPr>
        <p:txBody>
          <a:bodyPr wrap="square" lIns="0" tIns="0" rIns="0" bIns="0" rtlCol="0" anchor="t"/>
          <a:lstStyle/>
          <a:p>
            <a:pPr marL="0" indent="0" algn="l">
              <a:lnSpc>
                <a:spcPts val="2550"/>
              </a:lnSpc>
              <a:buNone/>
            </a:pPr>
            <a:r>
              <a:rPr lang="en-US" sz="1600" dirty="0">
                <a:solidFill>
                  <a:srgbClr val="4B4A4A"/>
                </a:solidFill>
                <a:latin typeface="Geist" pitchFamily="34" charset="0"/>
                <a:ea typeface="Geist" pitchFamily="34" charset="-122"/>
                <a:cs typeface="Geist" pitchFamily="34" charset="-120"/>
              </a:rPr>
              <a:t>"The system identified the Data Scientist as the top candidate for the Senior ML Engineer role, highlighting strong Python skills, machine learning project experience, and relevant certifications—while noting the need for additional cloud infrastructure experience."</a:t>
            </a:r>
            <a:endParaRPr lang="en-US" sz="1600" dirty="0"/>
          </a:p>
        </p:txBody>
      </p:sp>
      <p:sp>
        <p:nvSpPr>
          <p:cNvPr id="23" name="Shape 21"/>
          <p:cNvSpPr/>
          <p:nvPr/>
        </p:nvSpPr>
        <p:spPr>
          <a:xfrm>
            <a:off x="793790" y="6479024"/>
            <a:ext cx="22860" cy="1112520"/>
          </a:xfrm>
          <a:prstGeom prst="rect">
            <a:avLst/>
          </a:prstGeom>
          <a:solidFill>
            <a:srgbClr val="006747"/>
          </a:solidFill>
          <a:ln/>
        </p:spPr>
      </p:sp>
      <p:sp>
        <p:nvSpPr>
          <p:cNvPr id="24" name="Rectangle 23">
            <a:extLst>
              <a:ext uri="{FF2B5EF4-FFF2-40B4-BE49-F238E27FC236}">
                <a16:creationId xmlns:a16="http://schemas.microsoft.com/office/drawing/2014/main" id="{16B2AF92-3DB8-E7B2-6D3A-F89CE15DF23E}"/>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74752"/>
            <a:ext cx="6271736" cy="531614"/>
          </a:xfrm>
          <a:prstGeom prst="rect">
            <a:avLst/>
          </a:prstGeom>
          <a:noFill/>
          <a:ln/>
        </p:spPr>
        <p:txBody>
          <a:bodyPr wrap="none" lIns="0" tIns="0" rIns="0" bIns="0" rtlCol="0" anchor="t"/>
          <a:lstStyle/>
          <a:p>
            <a:pPr marL="0" indent="0" algn="l">
              <a:lnSpc>
                <a:spcPts val="4150"/>
              </a:lnSpc>
              <a:buNone/>
            </a:pPr>
            <a:r>
              <a:rPr lang="en-US" sz="3300" b="1" dirty="0">
                <a:solidFill>
                  <a:srgbClr val="006747"/>
                </a:solidFill>
                <a:latin typeface="Noto Serif SC Bold" pitchFamily="34" charset="0"/>
                <a:ea typeface="Noto Serif SC Bold" pitchFamily="34" charset="-122"/>
                <a:cs typeface="Noto Serif SC Bold" pitchFamily="34" charset="-120"/>
              </a:rPr>
              <a:t>Revolutionizing Recruitment</a:t>
            </a:r>
            <a:endParaRPr lang="en-US" sz="3300" dirty="0"/>
          </a:p>
        </p:txBody>
      </p:sp>
      <p:sp>
        <p:nvSpPr>
          <p:cNvPr id="3" name="Text 1"/>
          <p:cNvSpPr/>
          <p:nvPr/>
        </p:nvSpPr>
        <p:spPr>
          <a:xfrm>
            <a:off x="793790" y="1746528"/>
            <a:ext cx="13042821"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Smart Resume &amp; Job Matcher transforms hiring with intelligent automation:</a:t>
            </a:r>
            <a:endParaRPr lang="en-US" sz="1300" dirty="0"/>
          </a:p>
        </p:txBody>
      </p:sp>
      <p:sp>
        <p:nvSpPr>
          <p:cNvPr id="4" name="Shape 2"/>
          <p:cNvSpPr/>
          <p:nvPr/>
        </p:nvSpPr>
        <p:spPr>
          <a:xfrm>
            <a:off x="793790" y="2210038"/>
            <a:ext cx="4234220" cy="1675567"/>
          </a:xfrm>
          <a:prstGeom prst="roundRect">
            <a:avLst>
              <a:gd name="adj" fmla="val 9138"/>
            </a:avLst>
          </a:prstGeom>
          <a:solidFill>
            <a:srgbClr val="D1EFE4"/>
          </a:solidFill>
          <a:ln w="7620">
            <a:solidFill>
              <a:srgbClr val="006747"/>
            </a:solidFill>
            <a:prstDash val="solid"/>
          </a:ln>
        </p:spPr>
      </p:sp>
      <p:sp>
        <p:nvSpPr>
          <p:cNvPr id="5" name="Shape 3"/>
          <p:cNvSpPr/>
          <p:nvPr/>
        </p:nvSpPr>
        <p:spPr>
          <a:xfrm>
            <a:off x="971431" y="2387679"/>
            <a:ext cx="510302" cy="510302"/>
          </a:xfrm>
          <a:prstGeom prst="roundRect">
            <a:avLst>
              <a:gd name="adj" fmla="val 17917009"/>
            </a:avLst>
          </a:prstGeom>
          <a:solidFill>
            <a:srgbClr val="00674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806" y="2527935"/>
            <a:ext cx="229553" cy="229552"/>
          </a:xfrm>
          <a:prstGeom prst="rect">
            <a:avLst/>
          </a:prstGeom>
        </p:spPr>
      </p:pic>
      <p:sp>
        <p:nvSpPr>
          <p:cNvPr id="7" name="Text 4"/>
          <p:cNvSpPr/>
          <p:nvPr/>
        </p:nvSpPr>
        <p:spPr>
          <a:xfrm>
            <a:off x="971431" y="3068003"/>
            <a:ext cx="2473047" cy="265747"/>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Intelligent Automation</a:t>
            </a:r>
            <a:endParaRPr lang="en-US" sz="1650" dirty="0"/>
          </a:p>
        </p:txBody>
      </p:sp>
      <p:sp>
        <p:nvSpPr>
          <p:cNvPr id="8" name="Text 5"/>
          <p:cNvSpPr/>
          <p:nvPr/>
        </p:nvSpPr>
        <p:spPr>
          <a:xfrm>
            <a:off x="971431" y="3435787"/>
            <a:ext cx="3878937"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AI-powered candidate-job matching at scale</a:t>
            </a:r>
            <a:endParaRPr lang="en-US" sz="1300" dirty="0"/>
          </a:p>
        </p:txBody>
      </p:sp>
      <p:sp>
        <p:nvSpPr>
          <p:cNvPr id="9" name="Shape 6"/>
          <p:cNvSpPr/>
          <p:nvPr/>
        </p:nvSpPr>
        <p:spPr>
          <a:xfrm>
            <a:off x="5198031" y="2210038"/>
            <a:ext cx="4234220" cy="1675567"/>
          </a:xfrm>
          <a:prstGeom prst="roundRect">
            <a:avLst>
              <a:gd name="adj" fmla="val 9138"/>
            </a:avLst>
          </a:prstGeom>
          <a:solidFill>
            <a:srgbClr val="D1EFE4"/>
          </a:solidFill>
          <a:ln w="7620">
            <a:solidFill>
              <a:srgbClr val="006747"/>
            </a:solidFill>
            <a:prstDash val="solid"/>
          </a:ln>
        </p:spPr>
      </p:sp>
      <p:sp>
        <p:nvSpPr>
          <p:cNvPr id="10" name="Shape 7"/>
          <p:cNvSpPr/>
          <p:nvPr/>
        </p:nvSpPr>
        <p:spPr>
          <a:xfrm>
            <a:off x="5375672" y="2387679"/>
            <a:ext cx="510302" cy="510302"/>
          </a:xfrm>
          <a:prstGeom prst="roundRect">
            <a:avLst>
              <a:gd name="adj" fmla="val 17917009"/>
            </a:avLst>
          </a:prstGeom>
          <a:solidFill>
            <a:srgbClr val="00674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6047" y="2527935"/>
            <a:ext cx="229553" cy="229552"/>
          </a:xfrm>
          <a:prstGeom prst="rect">
            <a:avLst/>
          </a:prstGeom>
        </p:spPr>
      </p:pic>
      <p:sp>
        <p:nvSpPr>
          <p:cNvPr id="12" name="Text 8"/>
          <p:cNvSpPr/>
          <p:nvPr/>
        </p:nvSpPr>
        <p:spPr>
          <a:xfrm>
            <a:off x="5375672" y="3068003"/>
            <a:ext cx="2802017" cy="265747"/>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Transparent Explanations</a:t>
            </a:r>
            <a:endParaRPr lang="en-US" sz="1650" dirty="0"/>
          </a:p>
        </p:txBody>
      </p:sp>
      <p:sp>
        <p:nvSpPr>
          <p:cNvPr id="13" name="Text 9"/>
          <p:cNvSpPr/>
          <p:nvPr/>
        </p:nvSpPr>
        <p:spPr>
          <a:xfrm>
            <a:off x="5375672" y="3435787"/>
            <a:ext cx="3878937"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AI-generated reasoning for every decision</a:t>
            </a:r>
            <a:endParaRPr lang="en-US" sz="1300" dirty="0"/>
          </a:p>
        </p:txBody>
      </p:sp>
      <p:sp>
        <p:nvSpPr>
          <p:cNvPr id="14" name="Shape 10"/>
          <p:cNvSpPr/>
          <p:nvPr/>
        </p:nvSpPr>
        <p:spPr>
          <a:xfrm>
            <a:off x="9602272" y="2210038"/>
            <a:ext cx="4234220" cy="1675567"/>
          </a:xfrm>
          <a:prstGeom prst="roundRect">
            <a:avLst>
              <a:gd name="adj" fmla="val 9138"/>
            </a:avLst>
          </a:prstGeom>
          <a:solidFill>
            <a:srgbClr val="D1EFE4"/>
          </a:solidFill>
          <a:ln w="7620">
            <a:solidFill>
              <a:srgbClr val="006747"/>
            </a:solidFill>
            <a:prstDash val="solid"/>
          </a:ln>
        </p:spPr>
      </p:sp>
      <p:sp>
        <p:nvSpPr>
          <p:cNvPr id="15" name="Shape 11"/>
          <p:cNvSpPr/>
          <p:nvPr/>
        </p:nvSpPr>
        <p:spPr>
          <a:xfrm>
            <a:off x="9779913" y="2387679"/>
            <a:ext cx="510302" cy="510302"/>
          </a:xfrm>
          <a:prstGeom prst="roundRect">
            <a:avLst>
              <a:gd name="adj" fmla="val 17917009"/>
            </a:avLst>
          </a:prstGeom>
          <a:solidFill>
            <a:srgbClr val="006747"/>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20287" y="2527935"/>
            <a:ext cx="229553" cy="229552"/>
          </a:xfrm>
          <a:prstGeom prst="rect">
            <a:avLst/>
          </a:prstGeom>
        </p:spPr>
      </p:pic>
      <p:sp>
        <p:nvSpPr>
          <p:cNvPr id="17" name="Text 12"/>
          <p:cNvSpPr/>
          <p:nvPr/>
        </p:nvSpPr>
        <p:spPr>
          <a:xfrm>
            <a:off x="9779913" y="3068003"/>
            <a:ext cx="2410301" cy="265747"/>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Semantic + Structured</a:t>
            </a:r>
            <a:endParaRPr lang="en-US" sz="1650" dirty="0"/>
          </a:p>
        </p:txBody>
      </p:sp>
      <p:sp>
        <p:nvSpPr>
          <p:cNvPr id="18" name="Text 13"/>
          <p:cNvSpPr/>
          <p:nvPr/>
        </p:nvSpPr>
        <p:spPr>
          <a:xfrm>
            <a:off x="9779913" y="3435787"/>
            <a:ext cx="3878937"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Combined understanding for accurate matching</a:t>
            </a:r>
            <a:endParaRPr lang="en-US" sz="1300" dirty="0"/>
          </a:p>
        </p:txBody>
      </p:sp>
      <p:sp>
        <p:nvSpPr>
          <p:cNvPr id="19" name="Shape 14"/>
          <p:cNvSpPr/>
          <p:nvPr/>
        </p:nvSpPr>
        <p:spPr>
          <a:xfrm>
            <a:off x="793790" y="4055626"/>
            <a:ext cx="6436281" cy="1675567"/>
          </a:xfrm>
          <a:prstGeom prst="roundRect">
            <a:avLst>
              <a:gd name="adj" fmla="val 9138"/>
            </a:avLst>
          </a:prstGeom>
          <a:solidFill>
            <a:srgbClr val="D1EFE4"/>
          </a:solidFill>
          <a:ln w="7620">
            <a:solidFill>
              <a:srgbClr val="006747"/>
            </a:solidFill>
            <a:prstDash val="solid"/>
          </a:ln>
        </p:spPr>
      </p:sp>
      <p:sp>
        <p:nvSpPr>
          <p:cNvPr id="20" name="Shape 15"/>
          <p:cNvSpPr/>
          <p:nvPr/>
        </p:nvSpPr>
        <p:spPr>
          <a:xfrm>
            <a:off x="971431" y="4233267"/>
            <a:ext cx="510302" cy="510302"/>
          </a:xfrm>
          <a:prstGeom prst="roundRect">
            <a:avLst>
              <a:gd name="adj" fmla="val 17917009"/>
            </a:avLst>
          </a:prstGeom>
          <a:solidFill>
            <a:srgbClr val="006747"/>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1806" y="4373523"/>
            <a:ext cx="229553" cy="229552"/>
          </a:xfrm>
          <a:prstGeom prst="rect">
            <a:avLst/>
          </a:prstGeom>
        </p:spPr>
      </p:pic>
      <p:sp>
        <p:nvSpPr>
          <p:cNvPr id="22" name="Text 16"/>
          <p:cNvSpPr/>
          <p:nvPr/>
        </p:nvSpPr>
        <p:spPr>
          <a:xfrm>
            <a:off x="971431" y="4913590"/>
            <a:ext cx="2249448" cy="265747"/>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Flexible Deployment</a:t>
            </a:r>
            <a:endParaRPr lang="en-US" sz="1650" dirty="0"/>
          </a:p>
        </p:txBody>
      </p:sp>
      <p:sp>
        <p:nvSpPr>
          <p:cNvPr id="23" name="Text 17"/>
          <p:cNvSpPr/>
          <p:nvPr/>
        </p:nvSpPr>
        <p:spPr>
          <a:xfrm>
            <a:off x="971431" y="5281374"/>
            <a:ext cx="6080998"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Local or cloud-based implementation</a:t>
            </a:r>
            <a:endParaRPr lang="en-US" sz="1300" dirty="0"/>
          </a:p>
        </p:txBody>
      </p:sp>
      <p:sp>
        <p:nvSpPr>
          <p:cNvPr id="24" name="Shape 18"/>
          <p:cNvSpPr/>
          <p:nvPr/>
        </p:nvSpPr>
        <p:spPr>
          <a:xfrm>
            <a:off x="7400092" y="4055626"/>
            <a:ext cx="6436400" cy="1675567"/>
          </a:xfrm>
          <a:prstGeom prst="roundRect">
            <a:avLst>
              <a:gd name="adj" fmla="val 9138"/>
            </a:avLst>
          </a:prstGeom>
          <a:solidFill>
            <a:srgbClr val="D1EFE4"/>
          </a:solidFill>
          <a:ln w="7620">
            <a:solidFill>
              <a:srgbClr val="006747"/>
            </a:solidFill>
            <a:prstDash val="solid"/>
          </a:ln>
        </p:spPr>
      </p:sp>
      <p:sp>
        <p:nvSpPr>
          <p:cNvPr id="25" name="Shape 19"/>
          <p:cNvSpPr/>
          <p:nvPr/>
        </p:nvSpPr>
        <p:spPr>
          <a:xfrm>
            <a:off x="7577733" y="4233267"/>
            <a:ext cx="510302" cy="510302"/>
          </a:xfrm>
          <a:prstGeom prst="roundRect">
            <a:avLst>
              <a:gd name="adj" fmla="val 17917009"/>
            </a:avLst>
          </a:prstGeom>
          <a:solidFill>
            <a:srgbClr val="006747"/>
          </a:solidFill>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18108" y="4373523"/>
            <a:ext cx="229553" cy="229552"/>
          </a:xfrm>
          <a:prstGeom prst="rect">
            <a:avLst/>
          </a:prstGeom>
        </p:spPr>
      </p:pic>
      <p:sp>
        <p:nvSpPr>
          <p:cNvPr id="27" name="Text 20"/>
          <p:cNvSpPr/>
          <p:nvPr/>
        </p:nvSpPr>
        <p:spPr>
          <a:xfrm>
            <a:off x="7577733" y="4913590"/>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4B4A4A"/>
                </a:solidFill>
                <a:latin typeface="Noto Serif SC Bold" pitchFamily="34" charset="0"/>
                <a:ea typeface="Noto Serif SC Bold" pitchFamily="34" charset="-122"/>
                <a:cs typeface="Noto Serif SC Bold" pitchFamily="34" charset="-120"/>
              </a:rPr>
              <a:t>Actionable Insights</a:t>
            </a:r>
            <a:endParaRPr lang="en-US" sz="1650" dirty="0"/>
          </a:p>
        </p:txBody>
      </p:sp>
      <p:sp>
        <p:nvSpPr>
          <p:cNvPr id="28" name="Text 21"/>
          <p:cNvSpPr/>
          <p:nvPr/>
        </p:nvSpPr>
        <p:spPr>
          <a:xfrm>
            <a:off x="7577733" y="5281374"/>
            <a:ext cx="6081117" cy="272177"/>
          </a:xfrm>
          <a:prstGeom prst="rect">
            <a:avLst/>
          </a:prstGeom>
          <a:noFill/>
          <a:ln/>
        </p:spPr>
        <p:txBody>
          <a:bodyPr wrap="none" lIns="0" tIns="0" rIns="0" bIns="0" rtlCol="0" anchor="t"/>
          <a:lstStyle/>
          <a:p>
            <a:pPr marL="0" indent="0" algn="l">
              <a:lnSpc>
                <a:spcPts val="2100"/>
              </a:lnSpc>
              <a:buNone/>
            </a:pPr>
            <a:r>
              <a:rPr lang="en-US" sz="1300" dirty="0">
                <a:solidFill>
                  <a:srgbClr val="4B4A4A"/>
                </a:solidFill>
                <a:latin typeface="Geist" pitchFamily="34" charset="0"/>
                <a:ea typeface="Geist" pitchFamily="34" charset="-122"/>
                <a:cs typeface="Geist" pitchFamily="34" charset="-120"/>
              </a:rPr>
              <a:t>Data-driven hiring decisions</a:t>
            </a:r>
            <a:endParaRPr lang="en-US" sz="1300" dirty="0"/>
          </a:p>
        </p:txBody>
      </p:sp>
      <p:sp>
        <p:nvSpPr>
          <p:cNvPr id="29" name="Shape 22"/>
          <p:cNvSpPr/>
          <p:nvPr/>
        </p:nvSpPr>
        <p:spPr>
          <a:xfrm>
            <a:off x="793790" y="6007562"/>
            <a:ext cx="13042821" cy="28813"/>
          </a:xfrm>
          <a:prstGeom prst="rect">
            <a:avLst/>
          </a:prstGeom>
          <a:solidFill>
            <a:srgbClr val="4B4A4A">
              <a:alpha val="50000"/>
            </a:srgbClr>
          </a:solidFill>
          <a:ln/>
        </p:spPr>
      </p:sp>
      <p:sp>
        <p:nvSpPr>
          <p:cNvPr id="30" name="Text 23"/>
          <p:cNvSpPr/>
          <p:nvPr/>
        </p:nvSpPr>
        <p:spPr>
          <a:xfrm>
            <a:off x="793790" y="6291501"/>
            <a:ext cx="8505944" cy="1063228"/>
          </a:xfrm>
          <a:prstGeom prst="rect">
            <a:avLst/>
          </a:prstGeom>
          <a:noFill/>
          <a:ln/>
        </p:spPr>
        <p:txBody>
          <a:bodyPr wrap="none" lIns="0" tIns="0" rIns="0" bIns="0" rtlCol="0" anchor="t"/>
          <a:lstStyle/>
          <a:p>
            <a:pPr marL="0" indent="0" algn="l">
              <a:lnSpc>
                <a:spcPts val="8350"/>
              </a:lnSpc>
              <a:buNone/>
            </a:pPr>
            <a:r>
              <a:rPr lang="en-US" sz="6650" b="1" dirty="0">
                <a:solidFill>
                  <a:srgbClr val="006747"/>
                </a:solidFill>
                <a:latin typeface="Noto Serif SC Bold" pitchFamily="34" charset="0"/>
                <a:ea typeface="Noto Serif SC Bold" pitchFamily="34" charset="-122"/>
                <a:cs typeface="Noto Serif SC Bold" pitchFamily="34" charset="-120"/>
              </a:rPr>
              <a:t>Questions?</a:t>
            </a:r>
            <a:endParaRPr lang="en-US" sz="6650" dirty="0"/>
          </a:p>
        </p:txBody>
      </p:sp>
      <p:sp>
        <p:nvSpPr>
          <p:cNvPr id="31" name="Rectangle 30">
            <a:extLst>
              <a:ext uri="{FF2B5EF4-FFF2-40B4-BE49-F238E27FC236}">
                <a16:creationId xmlns:a16="http://schemas.microsoft.com/office/drawing/2014/main" id="{23282BD3-0BE5-7610-2E3B-1473776D2678}"/>
              </a:ext>
            </a:extLst>
          </p:cNvPr>
          <p:cNvSpPr/>
          <p:nvPr/>
        </p:nvSpPr>
        <p:spPr>
          <a:xfrm>
            <a:off x="12558532" y="7280476"/>
            <a:ext cx="1967696" cy="868101"/>
          </a:xfrm>
          <a:prstGeom prst="rect">
            <a:avLst/>
          </a:prstGeom>
          <a:solidFill>
            <a:srgbClr val="E2F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557</Words>
  <Application>Microsoft Office PowerPoint</Application>
  <PresentationFormat>Custom</PresentationFormat>
  <Paragraphs>136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Noto Serif SC Bold</vt:lpstr>
      <vt:lpstr>Geist</vt:lpstr>
      <vt:lpstr>Noto Serif SC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CAUCHON Sascha</cp:lastModifiedBy>
  <cp:revision>2</cp:revision>
  <dcterms:created xsi:type="dcterms:W3CDTF">2026-01-04T11:26:28Z</dcterms:created>
  <dcterms:modified xsi:type="dcterms:W3CDTF">2026-01-04T11:27:41Z</dcterms:modified>
</cp:coreProperties>
</file>